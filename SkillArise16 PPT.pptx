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3" r:id="rId19"/>
  </p:sldIdLst>
  <p:sldSz cx="18288000" cy="10287000"/>
  <p:notesSz cx="6858000" cy="9144000"/>
  <p:embeddedFontLst>
    <p:embeddedFont>
      <p:font typeface="Libre Baskerville" panose="02000000000000000000" pitchFamily="2" charset="0"/>
      <p:regular r:id="rId21"/>
      <p:bold r:id="rId22"/>
      <p:italic r:id="rId23"/>
    </p:embeddedFont>
    <p:embeddedFont>
      <p:font typeface="Poppins" panose="00000500000000000000" pitchFamily="2" charset="0"/>
      <p:regular r:id="rId24"/>
      <p:bold r:id="rId25"/>
      <p:italic r:id="rId26"/>
      <p:boldItalic r:id="rId27"/>
    </p:embeddedFont>
    <p:embeddedFont>
      <p:font typeface="Raleway Black" pitchFamily="2" charset="0"/>
      <p:bold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516" y="-2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73b5d505d5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73b5d505d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
          <p:cNvSpPr/>
          <p:nvPr/>
        </p:nvSpPr>
        <p:spPr>
          <a:xfrm>
            <a:off x="15773400" y="114300"/>
            <a:ext cx="2363346" cy="1019175"/>
          </a:xfrm>
          <a:custGeom>
            <a:avLst/>
            <a:gdLst/>
            <a:ahLst/>
            <a:cxnLst/>
            <a:rect l="l" t="t" r="r" b="b"/>
            <a:pathLst>
              <a:path w="2887738" h="1445202" extrusionOk="0">
                <a:moveTo>
                  <a:pt x="0" y="0"/>
                </a:moveTo>
                <a:lnTo>
                  <a:pt x="2887738" y="0"/>
                </a:lnTo>
                <a:lnTo>
                  <a:pt x="2887738" y="1445202"/>
                </a:lnTo>
                <a:lnTo>
                  <a:pt x="0" y="1445202"/>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9" name="Google Shape;19;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1" name="Google Shape;31;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8" name="Google Shape;38;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 name="Google Shape;44;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5" name="Google Shape;45;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6" name="Google Shape;46;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7" name="Google Shape;4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8" name="Google Shape;58;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9" name="Google Shape;59;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0"/>
          <p:cNvSpPr>
            <a:spLocks noGrp="1"/>
          </p:cNvSpPr>
          <p:nvPr>
            <p:ph type="pic" idx="2"/>
          </p:nvPr>
        </p:nvSpPr>
        <p:spPr>
          <a:xfrm>
            <a:off x="1792288" y="612775"/>
            <a:ext cx="5486400" cy="4114800"/>
          </a:xfrm>
          <a:prstGeom prst="rect">
            <a:avLst/>
          </a:prstGeom>
          <a:noFill/>
          <a:ln>
            <a:noFill/>
          </a:ln>
        </p:spPr>
      </p:sp>
      <p:sp>
        <p:nvSpPr>
          <p:cNvPr id="65" name="Google Shape;65;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6" name="Google Shape;66;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8" name="Google Shape;7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2.png"/><Relationship Id="rId7"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hyperlink" Target="https://github.com/Anharous/HexaWareHackathon.git" TargetMode="External"/><Relationship Id="rId4" Type="http://schemas.openxmlformats.org/officeDocument/2006/relationships/image" Target="../media/image3.png"/><Relationship Id="rId9" Type="http://schemas.openxmlformats.org/officeDocument/2006/relationships/image" Target="../media/image17.jp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jp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84"/>
        <p:cNvGrpSpPr/>
        <p:nvPr/>
      </p:nvGrpSpPr>
      <p:grpSpPr>
        <a:xfrm>
          <a:off x="0" y="0"/>
          <a:ext cx="0" cy="0"/>
          <a:chOff x="0" y="0"/>
          <a:chExt cx="0" cy="0"/>
        </a:xfrm>
      </p:grpSpPr>
      <p:sp>
        <p:nvSpPr>
          <p:cNvPr id="85" name="Google Shape;85;p13"/>
          <p:cNvSpPr/>
          <p:nvPr/>
        </p:nvSpPr>
        <p:spPr>
          <a:xfrm>
            <a:off x="-1066800" y="8121381"/>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 name="Google Shape;86;p13"/>
          <p:cNvSpPr/>
          <p:nvPr/>
        </p:nvSpPr>
        <p:spPr>
          <a:xfrm>
            <a:off x="9884352" y="-5341380"/>
            <a:ext cx="9225147" cy="8229600"/>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 name="Google Shape;87;p13"/>
          <p:cNvSpPr/>
          <p:nvPr/>
        </p:nvSpPr>
        <p:spPr>
          <a:xfrm>
            <a:off x="16933319" y="7398781"/>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 name="Google Shape;88;p13"/>
          <p:cNvSpPr txBox="1"/>
          <p:nvPr/>
        </p:nvSpPr>
        <p:spPr>
          <a:xfrm>
            <a:off x="6248400" y="5267325"/>
            <a:ext cx="6553200" cy="1385400"/>
          </a:xfrm>
          <a:prstGeom prst="rect">
            <a:avLst/>
          </a:prstGeom>
          <a:noFill/>
          <a:ln>
            <a:noFill/>
          </a:ln>
        </p:spPr>
        <p:txBody>
          <a:bodyPr spcFirstLastPara="1" wrap="square" lIns="0" tIns="0" rIns="0" bIns="0" anchor="t" anchorCtr="0">
            <a:spAutoFit/>
          </a:bodyPr>
          <a:lstStyle/>
          <a:p>
            <a:pPr marL="0" marR="0" lvl="0" indent="0" algn="ctr" rtl="0">
              <a:lnSpc>
                <a:spcPct val="104999"/>
              </a:lnSpc>
              <a:spcBef>
                <a:spcPts val="0"/>
              </a:spcBef>
              <a:spcAft>
                <a:spcPts val="0"/>
              </a:spcAft>
              <a:buNone/>
            </a:pPr>
            <a:r>
              <a:rPr lang="en-US" sz="9000" b="1">
                <a:solidFill>
                  <a:srgbClr val="5271FF"/>
                </a:solidFill>
                <a:latin typeface="Raleway Black"/>
                <a:ea typeface="Raleway Black"/>
                <a:cs typeface="Raleway Black"/>
                <a:sym typeface="Raleway Black"/>
              </a:rPr>
              <a:t>INNOVISTA</a:t>
            </a:r>
            <a:endParaRPr/>
          </a:p>
        </p:txBody>
      </p:sp>
      <p:sp>
        <p:nvSpPr>
          <p:cNvPr id="89" name="Google Shape;89;p13"/>
          <p:cNvSpPr/>
          <p:nvPr/>
        </p:nvSpPr>
        <p:spPr>
          <a:xfrm>
            <a:off x="1371614" y="7781663"/>
            <a:ext cx="9225147" cy="8229600"/>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 name="Google Shape;90;p13"/>
          <p:cNvSpPr txBox="1"/>
          <p:nvPr/>
        </p:nvSpPr>
        <p:spPr>
          <a:xfrm>
            <a:off x="227450" y="3133006"/>
            <a:ext cx="18270900" cy="2261901"/>
          </a:xfrm>
          <a:prstGeom prst="rect">
            <a:avLst/>
          </a:prstGeom>
          <a:noFill/>
          <a:ln>
            <a:noFill/>
          </a:ln>
        </p:spPr>
        <p:txBody>
          <a:bodyPr spcFirstLastPara="1" wrap="square" lIns="0" tIns="0" rIns="0" bIns="0" anchor="t" anchorCtr="0">
            <a:spAutoFit/>
          </a:bodyPr>
          <a:lstStyle/>
          <a:p>
            <a:pPr marL="0" marR="0" lvl="0" indent="0" algn="ctr" rtl="0">
              <a:lnSpc>
                <a:spcPct val="105000"/>
              </a:lnSpc>
              <a:spcBef>
                <a:spcPts val="0"/>
              </a:spcBef>
              <a:spcAft>
                <a:spcPts val="0"/>
              </a:spcAft>
              <a:buNone/>
            </a:pPr>
            <a:r>
              <a:rPr lang="en-US" sz="6999" dirty="0">
                <a:solidFill>
                  <a:srgbClr val="000000"/>
                </a:solidFill>
                <a:latin typeface="Poppins"/>
                <a:ea typeface="Poppins"/>
                <a:cs typeface="Poppins"/>
                <a:sym typeface="Poppins"/>
              </a:rPr>
              <a:t>MAVERICKS HACKATHON PROGRAM </a:t>
            </a:r>
            <a:endParaRPr dirty="0"/>
          </a:p>
          <a:p>
            <a:pPr marL="0" marR="0" lvl="0" indent="0" algn="ctr" rtl="0">
              <a:lnSpc>
                <a:spcPct val="105000"/>
              </a:lnSpc>
              <a:spcBef>
                <a:spcPts val="0"/>
              </a:spcBef>
              <a:spcAft>
                <a:spcPts val="0"/>
              </a:spcAft>
              <a:buNone/>
            </a:pPr>
            <a:r>
              <a:rPr lang="en-US" sz="6999" dirty="0">
                <a:solidFill>
                  <a:srgbClr val="000000"/>
                </a:solidFill>
                <a:latin typeface="Poppins"/>
                <a:ea typeface="Poppins"/>
                <a:cs typeface="Poppins"/>
                <a:sym typeface="Poppins"/>
              </a:rPr>
              <a:t>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94"/>
        <p:cNvGrpSpPr/>
        <p:nvPr/>
      </p:nvGrpSpPr>
      <p:grpSpPr>
        <a:xfrm>
          <a:off x="0" y="0"/>
          <a:ext cx="0" cy="0"/>
          <a:chOff x="0" y="0"/>
          <a:chExt cx="0" cy="0"/>
        </a:xfrm>
      </p:grpSpPr>
      <p:sp>
        <p:nvSpPr>
          <p:cNvPr id="95" name="Google Shape;95;p14"/>
          <p:cNvSpPr/>
          <p:nvPr/>
        </p:nvSpPr>
        <p:spPr>
          <a:xfrm>
            <a:off x="1906777" y="-391566"/>
            <a:ext cx="9225147" cy="8229600"/>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14"/>
          <p:cNvSpPr/>
          <p:nvPr/>
        </p:nvSpPr>
        <p:spPr>
          <a:xfrm>
            <a:off x="15055452" y="6210300"/>
            <a:ext cx="9225147" cy="8597155"/>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7" name="Google Shape;97;p14"/>
          <p:cNvGrpSpPr/>
          <p:nvPr/>
        </p:nvGrpSpPr>
        <p:grpSpPr>
          <a:xfrm>
            <a:off x="0" y="-90108"/>
            <a:ext cx="5102386" cy="10467217"/>
            <a:chOff x="0" y="0"/>
            <a:chExt cx="1343838" cy="2756798"/>
          </a:xfrm>
        </p:grpSpPr>
        <p:sp>
          <p:nvSpPr>
            <p:cNvPr id="98" name="Google Shape;98;p14"/>
            <p:cNvSpPr/>
            <p:nvPr/>
          </p:nvSpPr>
          <p:spPr>
            <a:xfrm>
              <a:off x="0" y="0"/>
              <a:ext cx="1343838" cy="2756798"/>
            </a:xfrm>
            <a:custGeom>
              <a:avLst/>
              <a:gdLst/>
              <a:ahLst/>
              <a:cxnLst/>
              <a:rect l="l" t="t" r="r" b="b"/>
              <a:pathLst>
                <a:path w="1343838" h="2756798" extrusionOk="0">
                  <a:moveTo>
                    <a:pt x="0" y="0"/>
                  </a:moveTo>
                  <a:lnTo>
                    <a:pt x="1343838" y="0"/>
                  </a:lnTo>
                  <a:lnTo>
                    <a:pt x="1343838" y="2756798"/>
                  </a:lnTo>
                  <a:lnTo>
                    <a:pt x="0" y="2756798"/>
                  </a:lnTo>
                  <a:close/>
                </a:path>
              </a:pathLst>
            </a:custGeom>
            <a:gradFill>
              <a:gsLst>
                <a:gs pos="0">
                  <a:srgbClr val="1933A8"/>
                </a:gs>
                <a:gs pos="100000">
                  <a:srgbClr val="5271FF"/>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14"/>
            <p:cNvSpPr txBox="1"/>
            <p:nvPr/>
          </p:nvSpPr>
          <p:spPr>
            <a:xfrm>
              <a:off x="0" y="9525"/>
              <a:ext cx="1343838" cy="2747273"/>
            </a:xfrm>
            <a:prstGeom prst="rect">
              <a:avLst/>
            </a:prstGeom>
            <a:noFill/>
            <a:ln>
              <a:noFill/>
            </a:ln>
          </p:spPr>
          <p:txBody>
            <a:bodyPr spcFirstLastPara="1" wrap="square" lIns="50800" tIns="50800" rIns="50800" bIns="50800" anchor="ctr" anchorCtr="0">
              <a:noAutofit/>
            </a:bodyPr>
            <a:lstStyle/>
            <a:p>
              <a:pPr marL="0" marR="0" lvl="0" indent="0" algn="ctr" rtl="0">
                <a:lnSpc>
                  <a:spcPct val="84500"/>
                </a:lnSpc>
                <a:spcBef>
                  <a:spcPts val="0"/>
                </a:spcBef>
                <a:spcAft>
                  <a:spcPts val="0"/>
                </a:spcAft>
                <a:buNone/>
              </a:pPr>
              <a:endParaRPr sz="1800">
                <a:solidFill>
                  <a:schemeClr val="dk1"/>
                </a:solidFill>
                <a:latin typeface="Calibri"/>
                <a:ea typeface="Calibri"/>
                <a:cs typeface="Calibri"/>
                <a:sym typeface="Calibri"/>
              </a:endParaRPr>
            </a:p>
          </p:txBody>
        </p:sp>
      </p:grpSp>
      <p:sp>
        <p:nvSpPr>
          <p:cNvPr id="100" name="Google Shape;100;p14"/>
          <p:cNvSpPr/>
          <p:nvPr/>
        </p:nvSpPr>
        <p:spPr>
          <a:xfrm>
            <a:off x="975250" y="1244039"/>
            <a:ext cx="8255984" cy="7450593"/>
          </a:xfrm>
          <a:custGeom>
            <a:avLst/>
            <a:gdLst/>
            <a:ahLst/>
            <a:cxnLst/>
            <a:rect l="l" t="t" r="r" b="b"/>
            <a:pathLst>
              <a:path w="1279006" h="1154236" extrusionOk="0">
                <a:moveTo>
                  <a:pt x="93778" y="0"/>
                </a:moveTo>
                <a:lnTo>
                  <a:pt x="1185228" y="0"/>
                </a:lnTo>
                <a:cubicBezTo>
                  <a:pt x="1237020" y="0"/>
                  <a:pt x="1279006" y="41986"/>
                  <a:pt x="1279006" y="93778"/>
                </a:cubicBezTo>
                <a:lnTo>
                  <a:pt x="1279006" y="1060458"/>
                </a:lnTo>
                <a:cubicBezTo>
                  <a:pt x="1279006" y="1085330"/>
                  <a:pt x="1269126" y="1109183"/>
                  <a:pt x="1251539" y="1126769"/>
                </a:cubicBezTo>
                <a:cubicBezTo>
                  <a:pt x="1233952" y="1144356"/>
                  <a:pt x="1210099" y="1154236"/>
                  <a:pt x="1185228" y="1154236"/>
                </a:cubicBezTo>
                <a:lnTo>
                  <a:pt x="93778" y="1154236"/>
                </a:lnTo>
                <a:cubicBezTo>
                  <a:pt x="68907" y="1154236"/>
                  <a:pt x="45054" y="1144356"/>
                  <a:pt x="27467" y="1126769"/>
                </a:cubicBezTo>
                <a:cubicBezTo>
                  <a:pt x="9880" y="1109183"/>
                  <a:pt x="0" y="1085330"/>
                  <a:pt x="0" y="1060458"/>
                </a:cubicBezTo>
                <a:lnTo>
                  <a:pt x="0" y="93778"/>
                </a:lnTo>
                <a:cubicBezTo>
                  <a:pt x="0" y="68907"/>
                  <a:pt x="9880" y="45054"/>
                  <a:pt x="27467" y="27467"/>
                </a:cubicBezTo>
                <a:cubicBezTo>
                  <a:pt x="45054" y="9880"/>
                  <a:pt x="68907" y="0"/>
                  <a:pt x="93778" y="0"/>
                </a:cubicBezTo>
                <a:close/>
              </a:path>
            </a:pathLst>
          </a:custGeom>
          <a:blipFill rotWithShape="1">
            <a:blip r:embed="rId4">
              <a:alphaModFix/>
            </a:blip>
            <a:stretch>
              <a:fillRect l="-17723" r="-177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01;p14"/>
          <p:cNvSpPr/>
          <p:nvPr/>
        </p:nvSpPr>
        <p:spPr>
          <a:xfrm>
            <a:off x="16181426" y="7838034"/>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14"/>
          <p:cNvSpPr/>
          <p:nvPr/>
        </p:nvSpPr>
        <p:spPr>
          <a:xfrm>
            <a:off x="10307815" y="8694281"/>
            <a:ext cx="824110" cy="310071"/>
          </a:xfrm>
          <a:custGeom>
            <a:avLst/>
            <a:gdLst/>
            <a:ahLst/>
            <a:cxnLst/>
            <a:rect l="l" t="t" r="r" b="b"/>
            <a:pathLst>
              <a:path w="824110" h="310071" extrusionOk="0">
                <a:moveTo>
                  <a:pt x="0" y="0"/>
                </a:moveTo>
                <a:lnTo>
                  <a:pt x="824109" y="0"/>
                </a:lnTo>
                <a:lnTo>
                  <a:pt x="824109" y="310071"/>
                </a:lnTo>
                <a:lnTo>
                  <a:pt x="0" y="310071"/>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 name="Google Shape;103;p14"/>
          <p:cNvSpPr txBox="1"/>
          <p:nvPr/>
        </p:nvSpPr>
        <p:spPr>
          <a:xfrm>
            <a:off x="9793625" y="2019300"/>
            <a:ext cx="8037175" cy="6617196"/>
          </a:xfrm>
          <a:prstGeom prst="rect">
            <a:avLst/>
          </a:prstGeom>
          <a:noFill/>
          <a:ln>
            <a:noFill/>
          </a:ln>
        </p:spPr>
        <p:txBody>
          <a:bodyPr spcFirstLastPara="1" wrap="square" lIns="0" tIns="0" rIns="0" bIns="0" anchor="t" anchorCtr="0">
            <a:spAutoFit/>
          </a:bodyPr>
          <a:lstStyle/>
          <a:p>
            <a:pPr marL="0" marR="0" lvl="0" indent="0" algn="l" rtl="0">
              <a:lnSpc>
                <a:spcPct val="59416"/>
              </a:lnSpc>
              <a:spcBef>
                <a:spcPts val="0"/>
              </a:spcBef>
              <a:spcAft>
                <a:spcPts val="0"/>
              </a:spcAft>
              <a:buNone/>
            </a:pPr>
            <a:r>
              <a:rPr lang="en-US" sz="6000" b="1">
                <a:solidFill>
                  <a:srgbClr val="5271FF"/>
                </a:solidFill>
                <a:latin typeface="Libre Baskerville"/>
                <a:ea typeface="Libre Baskerville"/>
                <a:cs typeface="Libre Baskerville"/>
                <a:sym typeface="Libre Baskerville"/>
              </a:rPr>
              <a:t>    </a:t>
            </a:r>
            <a:r>
              <a:rPr lang="en-US" sz="7200" b="1">
                <a:solidFill>
                  <a:srgbClr val="5271FF"/>
                </a:solidFill>
                <a:latin typeface="Libre Baskerville"/>
                <a:ea typeface="Libre Baskerville"/>
                <a:cs typeface="Libre Baskerville"/>
                <a:sym typeface="Libre Baskerville"/>
              </a:rPr>
              <a:t>INNOVISTA</a:t>
            </a:r>
            <a:endParaRPr/>
          </a:p>
          <a:p>
            <a:pPr marL="0" marR="0" lvl="0" indent="0" algn="l" rtl="0">
              <a:lnSpc>
                <a:spcPct val="89125"/>
              </a:lnSpc>
              <a:spcBef>
                <a:spcPts val="0"/>
              </a:spcBef>
              <a:spcAft>
                <a:spcPts val="0"/>
              </a:spcAft>
              <a:buNone/>
            </a:pPr>
            <a:r>
              <a:rPr lang="en-US" sz="4800" b="1">
                <a:solidFill>
                  <a:srgbClr val="5271FF"/>
                </a:solidFill>
                <a:latin typeface="Libre Baskerville"/>
                <a:ea typeface="Libre Baskerville"/>
                <a:cs typeface="Libre Baskerville"/>
                <a:sym typeface="Libre Baskerville"/>
              </a:rPr>
              <a:t>         </a:t>
            </a:r>
            <a:r>
              <a:rPr lang="en-US" sz="4400" b="1">
                <a:solidFill>
                  <a:srgbClr val="5271FF"/>
                </a:solidFill>
                <a:latin typeface="Libre Baskerville"/>
                <a:ea typeface="Libre Baskerville"/>
                <a:cs typeface="Libre Baskerville"/>
                <a:sym typeface="Libre Baskerville"/>
              </a:rPr>
              <a:t>SKILLARISE</a:t>
            </a:r>
            <a:endParaRPr/>
          </a:p>
          <a:p>
            <a:pPr marL="0" marR="0" lvl="0" indent="0" algn="l" rtl="0">
              <a:lnSpc>
                <a:spcPct val="104981"/>
              </a:lnSpc>
              <a:spcBef>
                <a:spcPts val="0"/>
              </a:spcBef>
              <a:spcAft>
                <a:spcPts val="0"/>
              </a:spcAft>
              <a:buNone/>
            </a:pPr>
            <a:endParaRPr sz="4075" b="1">
              <a:solidFill>
                <a:srgbClr val="5271FF"/>
              </a:solidFill>
              <a:latin typeface="Raleway Black"/>
              <a:ea typeface="Raleway Black"/>
              <a:cs typeface="Raleway Black"/>
              <a:sym typeface="Raleway Black"/>
            </a:endParaRPr>
          </a:p>
          <a:p>
            <a:pPr marL="0" marR="0" lvl="0" indent="0" algn="l" rtl="0">
              <a:lnSpc>
                <a:spcPct val="104981"/>
              </a:lnSpc>
              <a:spcBef>
                <a:spcPts val="0"/>
              </a:spcBef>
              <a:spcAft>
                <a:spcPts val="0"/>
              </a:spcAft>
              <a:buNone/>
            </a:pPr>
            <a:r>
              <a:rPr lang="en-US" sz="4075" b="1">
                <a:solidFill>
                  <a:srgbClr val="5271FF"/>
                </a:solidFill>
                <a:latin typeface="Raleway Black"/>
                <a:ea typeface="Raleway Black"/>
                <a:cs typeface="Raleway Black"/>
                <a:sym typeface="Raleway Black"/>
              </a:rPr>
              <a:t>TEAM MEMBERS :</a:t>
            </a:r>
            <a:endParaRPr/>
          </a:p>
          <a:p>
            <a:pPr marL="0" marR="0" lvl="0" indent="0" algn="l" rtl="0">
              <a:lnSpc>
                <a:spcPct val="104981"/>
              </a:lnSpc>
              <a:spcBef>
                <a:spcPts val="0"/>
              </a:spcBef>
              <a:spcAft>
                <a:spcPts val="0"/>
              </a:spcAft>
              <a:buNone/>
            </a:pPr>
            <a:endParaRPr sz="4075" b="1">
              <a:solidFill>
                <a:srgbClr val="5271FF"/>
              </a:solidFill>
              <a:latin typeface="Raleway Black"/>
              <a:ea typeface="Raleway Black"/>
              <a:cs typeface="Raleway Black"/>
              <a:sym typeface="Raleway Black"/>
            </a:endParaRPr>
          </a:p>
          <a:p>
            <a:pPr marL="0" marR="0" lvl="0" indent="0" algn="l" rtl="0">
              <a:lnSpc>
                <a:spcPct val="104981"/>
              </a:lnSpc>
              <a:spcBef>
                <a:spcPts val="0"/>
              </a:spcBef>
              <a:spcAft>
                <a:spcPts val="0"/>
              </a:spcAft>
              <a:buNone/>
            </a:pPr>
            <a:r>
              <a:rPr lang="en-US" sz="4075" b="1">
                <a:solidFill>
                  <a:srgbClr val="5271FF"/>
                </a:solidFill>
                <a:latin typeface="Raleway Black"/>
                <a:ea typeface="Raleway Black"/>
                <a:cs typeface="Raleway Black"/>
                <a:sym typeface="Raleway Black"/>
              </a:rPr>
              <a:t>RESHIK RABACCA A-[AIDS]</a:t>
            </a:r>
            <a:endParaRPr/>
          </a:p>
          <a:p>
            <a:pPr marL="0" marR="0" lvl="0" indent="0" algn="l" rtl="0">
              <a:lnSpc>
                <a:spcPct val="104981"/>
              </a:lnSpc>
              <a:spcBef>
                <a:spcPts val="0"/>
              </a:spcBef>
              <a:spcAft>
                <a:spcPts val="0"/>
              </a:spcAft>
              <a:buNone/>
            </a:pPr>
            <a:r>
              <a:rPr lang="en-US" sz="4075" b="1">
                <a:solidFill>
                  <a:srgbClr val="5271FF"/>
                </a:solidFill>
                <a:latin typeface="Raleway Black"/>
                <a:ea typeface="Raleway Black"/>
                <a:cs typeface="Raleway Black"/>
                <a:sym typeface="Raleway Black"/>
              </a:rPr>
              <a:t>SWETHA R-[CSBS]</a:t>
            </a:r>
            <a:endParaRPr/>
          </a:p>
          <a:p>
            <a:pPr marL="0" marR="0" lvl="0" indent="0" algn="l" rtl="0">
              <a:lnSpc>
                <a:spcPct val="104981"/>
              </a:lnSpc>
              <a:spcBef>
                <a:spcPts val="0"/>
              </a:spcBef>
              <a:spcAft>
                <a:spcPts val="0"/>
              </a:spcAft>
              <a:buNone/>
            </a:pPr>
            <a:r>
              <a:rPr lang="en-US" sz="4075" b="1">
                <a:solidFill>
                  <a:srgbClr val="5271FF"/>
                </a:solidFill>
                <a:latin typeface="Raleway Black"/>
                <a:ea typeface="Raleway Black"/>
                <a:cs typeface="Raleway Black"/>
                <a:sym typeface="Raleway Black"/>
              </a:rPr>
              <a:t>AMIRTHA LAKSHMI S V-[CSBS]</a:t>
            </a:r>
            <a:endParaRPr/>
          </a:p>
          <a:p>
            <a:pPr marL="0" marR="0" lvl="0" indent="0" algn="l" rtl="0">
              <a:lnSpc>
                <a:spcPct val="104981"/>
              </a:lnSpc>
              <a:spcBef>
                <a:spcPts val="0"/>
              </a:spcBef>
              <a:spcAft>
                <a:spcPts val="0"/>
              </a:spcAft>
              <a:buNone/>
            </a:pPr>
            <a:r>
              <a:rPr lang="en-US" sz="4075" b="1">
                <a:solidFill>
                  <a:srgbClr val="5271FF"/>
                </a:solidFill>
                <a:latin typeface="Raleway Black"/>
                <a:ea typeface="Raleway Black"/>
                <a:cs typeface="Raleway Black"/>
                <a:sym typeface="Raleway Black"/>
              </a:rPr>
              <a:t>MONIFA PRISCA T-[ECE]</a:t>
            </a:r>
            <a:endParaRPr/>
          </a:p>
          <a:p>
            <a:pPr marL="0" marR="0" lvl="0" indent="0" algn="l" rtl="0">
              <a:lnSpc>
                <a:spcPct val="104981"/>
              </a:lnSpc>
              <a:spcBef>
                <a:spcPts val="0"/>
              </a:spcBef>
              <a:spcAft>
                <a:spcPts val="0"/>
              </a:spcAft>
              <a:buNone/>
            </a:pPr>
            <a:endParaRPr sz="4075" b="1">
              <a:solidFill>
                <a:srgbClr val="5271FF"/>
              </a:solidFill>
              <a:latin typeface="Raleway Black"/>
              <a:ea typeface="Raleway Black"/>
              <a:cs typeface="Raleway Black"/>
              <a:sym typeface="Raleway Black"/>
            </a:endParaRPr>
          </a:p>
          <a:p>
            <a:pPr marL="0" marR="0" lvl="0" indent="0" algn="l" rtl="0">
              <a:lnSpc>
                <a:spcPct val="104981"/>
              </a:lnSpc>
              <a:spcBef>
                <a:spcPts val="0"/>
              </a:spcBef>
              <a:spcAft>
                <a:spcPts val="0"/>
              </a:spcAft>
              <a:buNone/>
            </a:pPr>
            <a:endParaRPr sz="4075" b="1">
              <a:solidFill>
                <a:srgbClr val="5271FF"/>
              </a:solidFill>
              <a:latin typeface="Raleway Black"/>
              <a:ea typeface="Raleway Black"/>
              <a:cs typeface="Raleway Black"/>
              <a:sym typeface="Raleway Black"/>
            </a:endParaRPr>
          </a:p>
          <a:p>
            <a:pPr marL="0" marR="0" lvl="0" indent="0" algn="l" rtl="0">
              <a:lnSpc>
                <a:spcPct val="104981"/>
              </a:lnSpc>
              <a:spcBef>
                <a:spcPts val="0"/>
              </a:spcBef>
              <a:spcAft>
                <a:spcPts val="0"/>
              </a:spcAft>
              <a:buNone/>
            </a:pPr>
            <a:endParaRPr sz="4075" b="1">
              <a:solidFill>
                <a:srgbClr val="5271FF"/>
              </a:solidFill>
              <a:latin typeface="Raleway Black"/>
              <a:ea typeface="Raleway Black"/>
              <a:cs typeface="Raleway Black"/>
              <a:sym typeface="Raleway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07"/>
        <p:cNvGrpSpPr/>
        <p:nvPr/>
      </p:nvGrpSpPr>
      <p:grpSpPr>
        <a:xfrm>
          <a:off x="0" y="0"/>
          <a:ext cx="0" cy="0"/>
          <a:chOff x="0" y="0"/>
          <a:chExt cx="0" cy="0"/>
        </a:xfrm>
      </p:grpSpPr>
      <p:sp>
        <p:nvSpPr>
          <p:cNvPr id="108" name="Google Shape;108;p15"/>
          <p:cNvSpPr/>
          <p:nvPr/>
        </p:nvSpPr>
        <p:spPr>
          <a:xfrm>
            <a:off x="1028700" y="1028700"/>
            <a:ext cx="461704" cy="408608"/>
          </a:xfrm>
          <a:custGeom>
            <a:avLst/>
            <a:gdLst/>
            <a:ahLst/>
            <a:cxnLst/>
            <a:rect l="l" t="t" r="r" b="b"/>
            <a:pathLst>
              <a:path w="461704" h="408608" extrusionOk="0">
                <a:moveTo>
                  <a:pt x="0" y="0"/>
                </a:moveTo>
                <a:lnTo>
                  <a:pt x="461704" y="0"/>
                </a:lnTo>
                <a:lnTo>
                  <a:pt x="461704" y="408608"/>
                </a:lnTo>
                <a:lnTo>
                  <a:pt x="0" y="40860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15"/>
          <p:cNvSpPr/>
          <p:nvPr/>
        </p:nvSpPr>
        <p:spPr>
          <a:xfrm>
            <a:off x="11617742" y="-2281732"/>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15"/>
          <p:cNvSpPr/>
          <p:nvPr/>
        </p:nvSpPr>
        <p:spPr>
          <a:xfrm>
            <a:off x="9295493" y="7381784"/>
            <a:ext cx="9225147" cy="8229600"/>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11" name="Google Shape;111;p15"/>
          <p:cNvGrpSpPr/>
          <p:nvPr/>
        </p:nvGrpSpPr>
        <p:grpSpPr>
          <a:xfrm>
            <a:off x="13122247" y="-881860"/>
            <a:ext cx="5208518" cy="11168860"/>
            <a:chOff x="0" y="9525"/>
            <a:chExt cx="1371791" cy="2941593"/>
          </a:xfrm>
        </p:grpSpPr>
        <p:sp>
          <p:nvSpPr>
            <p:cNvPr id="112" name="Google Shape;112;p15"/>
            <p:cNvSpPr/>
            <p:nvPr/>
          </p:nvSpPr>
          <p:spPr>
            <a:xfrm>
              <a:off x="714395" y="620335"/>
              <a:ext cx="657396" cy="2330783"/>
            </a:xfrm>
            <a:custGeom>
              <a:avLst/>
              <a:gdLst/>
              <a:ahLst/>
              <a:cxnLst/>
              <a:rect l="l" t="t" r="r" b="b"/>
              <a:pathLst>
                <a:path w="773782" h="2756798" extrusionOk="0">
                  <a:moveTo>
                    <a:pt x="0" y="0"/>
                  </a:moveTo>
                  <a:lnTo>
                    <a:pt x="773782" y="0"/>
                  </a:lnTo>
                  <a:lnTo>
                    <a:pt x="773782" y="2756798"/>
                  </a:lnTo>
                  <a:lnTo>
                    <a:pt x="0" y="2756798"/>
                  </a:lnTo>
                  <a:close/>
                </a:path>
              </a:pathLst>
            </a:custGeom>
            <a:gradFill>
              <a:gsLst>
                <a:gs pos="0">
                  <a:srgbClr val="1933A8"/>
                </a:gs>
                <a:gs pos="100000">
                  <a:srgbClr val="5271FF"/>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15"/>
            <p:cNvSpPr txBox="1"/>
            <p:nvPr/>
          </p:nvSpPr>
          <p:spPr>
            <a:xfrm>
              <a:off x="0" y="9525"/>
              <a:ext cx="773782" cy="2747273"/>
            </a:xfrm>
            <a:prstGeom prst="rect">
              <a:avLst/>
            </a:prstGeom>
            <a:noFill/>
            <a:ln>
              <a:noFill/>
            </a:ln>
          </p:spPr>
          <p:txBody>
            <a:bodyPr spcFirstLastPara="1" wrap="square" lIns="50800" tIns="50800" rIns="50800" bIns="50800" anchor="ctr" anchorCtr="0">
              <a:noAutofit/>
            </a:bodyPr>
            <a:lstStyle/>
            <a:p>
              <a:pPr marL="0" marR="0" lvl="0" indent="0" algn="ctr" rtl="0">
                <a:lnSpc>
                  <a:spcPct val="84500"/>
                </a:lnSpc>
                <a:spcBef>
                  <a:spcPts val="0"/>
                </a:spcBef>
                <a:spcAft>
                  <a:spcPts val="0"/>
                </a:spcAft>
                <a:buNone/>
              </a:pPr>
              <a:endParaRPr sz="1800">
                <a:solidFill>
                  <a:schemeClr val="dk1"/>
                </a:solidFill>
                <a:latin typeface="Calibri"/>
                <a:ea typeface="Calibri"/>
                <a:cs typeface="Calibri"/>
                <a:sym typeface="Calibri"/>
              </a:endParaRPr>
            </a:p>
          </p:txBody>
        </p:sp>
      </p:grpSp>
      <p:sp>
        <p:nvSpPr>
          <p:cNvPr id="114" name="Google Shape;114;p15"/>
          <p:cNvSpPr/>
          <p:nvPr/>
        </p:nvSpPr>
        <p:spPr>
          <a:xfrm rot="10800000">
            <a:off x="16283560" y="9022657"/>
            <a:ext cx="1156456" cy="584010"/>
          </a:xfrm>
          <a:custGeom>
            <a:avLst/>
            <a:gdLst/>
            <a:ahLst/>
            <a:cxnLst/>
            <a:rect l="l" t="t" r="r" b="b"/>
            <a:pathLst>
              <a:path w="1156456" h="584010" extrusionOk="0">
                <a:moveTo>
                  <a:pt x="0" y="0"/>
                </a:moveTo>
                <a:lnTo>
                  <a:pt x="1156456" y="0"/>
                </a:lnTo>
                <a:lnTo>
                  <a:pt x="1156456" y="584010"/>
                </a:lnTo>
                <a:lnTo>
                  <a:pt x="0" y="584010"/>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accent1"/>
              </a:solidFill>
              <a:latin typeface="Calibri"/>
              <a:ea typeface="Calibri"/>
              <a:cs typeface="Calibri"/>
              <a:sym typeface="Calibri"/>
            </a:endParaRPr>
          </a:p>
        </p:txBody>
      </p:sp>
      <p:sp>
        <p:nvSpPr>
          <p:cNvPr id="115" name="Google Shape;115;p15"/>
          <p:cNvSpPr txBox="1"/>
          <p:nvPr/>
        </p:nvSpPr>
        <p:spPr>
          <a:xfrm>
            <a:off x="496384" y="505647"/>
            <a:ext cx="11314500" cy="10045200"/>
          </a:xfrm>
          <a:prstGeom prst="rect">
            <a:avLst/>
          </a:prstGeom>
          <a:noFill/>
          <a:ln>
            <a:noFill/>
          </a:ln>
        </p:spPr>
        <p:txBody>
          <a:bodyPr spcFirstLastPara="1" wrap="square" lIns="0" tIns="0" rIns="0" bIns="0" anchor="t" anchorCtr="0">
            <a:spAutoFit/>
          </a:bodyPr>
          <a:lstStyle/>
          <a:p>
            <a:pPr marL="0" marR="0" lvl="0" indent="0" algn="l" rtl="0">
              <a:lnSpc>
                <a:spcPct val="153150"/>
              </a:lnSpc>
              <a:spcBef>
                <a:spcPts val="0"/>
              </a:spcBef>
              <a:spcAft>
                <a:spcPts val="0"/>
              </a:spcAft>
              <a:buNone/>
            </a:pPr>
            <a:r>
              <a:rPr lang="en-US" sz="4000" b="1">
                <a:solidFill>
                  <a:srgbClr val="5271FF"/>
                </a:solidFill>
                <a:latin typeface="Times New Roman"/>
                <a:ea typeface="Times New Roman"/>
                <a:cs typeface="Times New Roman"/>
                <a:sym typeface="Times New Roman"/>
              </a:rPr>
              <a:t>Impact/Potential Value of the Application</a:t>
            </a:r>
            <a:endParaRPr>
              <a:latin typeface="Times New Roman"/>
              <a:ea typeface="Times New Roman"/>
              <a:cs typeface="Times New Roman"/>
              <a:sym typeface="Times New Roman"/>
            </a:endParaRPr>
          </a:p>
          <a:p>
            <a:pPr marL="0" marR="0" lvl="0" indent="0" algn="l" rtl="0">
              <a:lnSpc>
                <a:spcPct val="153150"/>
              </a:lnSpc>
              <a:spcBef>
                <a:spcPts val="0"/>
              </a:spcBef>
              <a:spcAft>
                <a:spcPts val="0"/>
              </a:spcAft>
              <a:buNone/>
            </a:pPr>
            <a:endParaRPr sz="4000" b="1">
              <a:solidFill>
                <a:srgbClr val="5271FF"/>
              </a:solidFill>
              <a:latin typeface="Times New Roman"/>
              <a:ea typeface="Times New Roman"/>
              <a:cs typeface="Times New Roman"/>
              <a:sym typeface="Times New Roman"/>
            </a:endParaRPr>
          </a:p>
          <a:p>
            <a:pPr marL="0" marR="0" lvl="0" indent="0" algn="l" rtl="0">
              <a:lnSpc>
                <a:spcPct val="153150"/>
              </a:lnSpc>
              <a:spcBef>
                <a:spcPts val="0"/>
              </a:spcBef>
              <a:spcAft>
                <a:spcPts val="0"/>
              </a:spcAft>
              <a:buNone/>
            </a:pPr>
            <a:endParaRPr sz="4000" b="1">
              <a:solidFill>
                <a:srgbClr val="5271FF"/>
              </a:solidFill>
              <a:latin typeface="Times New Roman"/>
              <a:ea typeface="Times New Roman"/>
              <a:cs typeface="Times New Roman"/>
              <a:sym typeface="Times New Roman"/>
            </a:endParaRPr>
          </a:p>
          <a:p>
            <a:pPr marL="0" marR="0" lvl="0" indent="0" algn="l" rtl="0">
              <a:lnSpc>
                <a:spcPct val="153150"/>
              </a:lnSpc>
              <a:spcBef>
                <a:spcPts val="0"/>
              </a:spcBef>
              <a:spcAft>
                <a:spcPts val="0"/>
              </a:spcAft>
              <a:buNone/>
            </a:pPr>
            <a:endParaRPr sz="4000" b="1">
              <a:solidFill>
                <a:srgbClr val="5271FF"/>
              </a:solidFill>
              <a:latin typeface="Times New Roman"/>
              <a:ea typeface="Times New Roman"/>
              <a:cs typeface="Times New Roman"/>
              <a:sym typeface="Times New Roman"/>
            </a:endParaRPr>
          </a:p>
          <a:p>
            <a:pPr marL="0" marR="0" lvl="0" indent="0" algn="l" rtl="0">
              <a:lnSpc>
                <a:spcPct val="153150"/>
              </a:lnSpc>
              <a:spcBef>
                <a:spcPts val="0"/>
              </a:spcBef>
              <a:spcAft>
                <a:spcPts val="0"/>
              </a:spcAft>
              <a:buNone/>
            </a:pPr>
            <a:endParaRPr sz="4000" b="1">
              <a:solidFill>
                <a:srgbClr val="5271FF"/>
              </a:solidFill>
              <a:latin typeface="Times New Roman"/>
              <a:ea typeface="Times New Roman"/>
              <a:cs typeface="Times New Roman"/>
              <a:sym typeface="Times New Roman"/>
            </a:endParaRPr>
          </a:p>
          <a:p>
            <a:pPr marL="0" marR="0" lvl="0" indent="0" algn="l" rtl="0">
              <a:lnSpc>
                <a:spcPct val="153150"/>
              </a:lnSpc>
              <a:spcBef>
                <a:spcPts val="0"/>
              </a:spcBef>
              <a:spcAft>
                <a:spcPts val="0"/>
              </a:spcAft>
              <a:buNone/>
            </a:pPr>
            <a:endParaRPr sz="4000" b="1">
              <a:solidFill>
                <a:srgbClr val="5271FF"/>
              </a:solidFill>
              <a:latin typeface="Times New Roman"/>
              <a:ea typeface="Times New Roman"/>
              <a:cs typeface="Times New Roman"/>
              <a:sym typeface="Times New Roman"/>
            </a:endParaRPr>
          </a:p>
          <a:p>
            <a:pPr marL="0" marR="0" lvl="0" indent="0" algn="l" rtl="0">
              <a:lnSpc>
                <a:spcPct val="153150"/>
              </a:lnSpc>
              <a:spcBef>
                <a:spcPts val="0"/>
              </a:spcBef>
              <a:spcAft>
                <a:spcPts val="0"/>
              </a:spcAft>
              <a:buNone/>
            </a:pPr>
            <a:endParaRPr sz="4000" b="1">
              <a:solidFill>
                <a:srgbClr val="5271FF"/>
              </a:solidFill>
              <a:latin typeface="Times New Roman"/>
              <a:ea typeface="Times New Roman"/>
              <a:cs typeface="Times New Roman"/>
              <a:sym typeface="Times New Roman"/>
            </a:endParaRPr>
          </a:p>
          <a:p>
            <a:pPr marL="0" marR="0" lvl="0" indent="0" algn="l" rtl="0">
              <a:lnSpc>
                <a:spcPct val="153150"/>
              </a:lnSpc>
              <a:spcBef>
                <a:spcPts val="0"/>
              </a:spcBef>
              <a:spcAft>
                <a:spcPts val="0"/>
              </a:spcAft>
              <a:buNone/>
            </a:pPr>
            <a:endParaRPr sz="4000" b="1">
              <a:solidFill>
                <a:srgbClr val="5271FF"/>
              </a:solidFill>
              <a:latin typeface="Times New Roman"/>
              <a:ea typeface="Times New Roman"/>
              <a:cs typeface="Times New Roman"/>
              <a:sym typeface="Times New Roman"/>
            </a:endParaRPr>
          </a:p>
          <a:p>
            <a:pPr marL="0" marR="0" lvl="0" indent="0" algn="l" rtl="0">
              <a:lnSpc>
                <a:spcPct val="153150"/>
              </a:lnSpc>
              <a:spcBef>
                <a:spcPts val="0"/>
              </a:spcBef>
              <a:spcAft>
                <a:spcPts val="0"/>
              </a:spcAft>
              <a:buNone/>
            </a:pPr>
            <a:endParaRPr sz="4000" b="1">
              <a:solidFill>
                <a:srgbClr val="5271FF"/>
              </a:solidFill>
              <a:latin typeface="Times New Roman"/>
              <a:ea typeface="Times New Roman"/>
              <a:cs typeface="Times New Roman"/>
              <a:sym typeface="Times New Roman"/>
            </a:endParaRPr>
          </a:p>
          <a:p>
            <a:pPr marL="0" marR="0" lvl="0" indent="0" algn="l" rtl="0">
              <a:lnSpc>
                <a:spcPct val="153150"/>
              </a:lnSpc>
              <a:spcBef>
                <a:spcPts val="0"/>
              </a:spcBef>
              <a:spcAft>
                <a:spcPts val="0"/>
              </a:spcAft>
              <a:buNone/>
            </a:pPr>
            <a:endParaRPr sz="4000" b="1">
              <a:solidFill>
                <a:srgbClr val="5271FF"/>
              </a:solidFill>
              <a:latin typeface="Times New Roman"/>
              <a:ea typeface="Times New Roman"/>
              <a:cs typeface="Times New Roman"/>
              <a:sym typeface="Times New Roman"/>
            </a:endParaRPr>
          </a:p>
          <a:p>
            <a:pPr marL="0" marR="0" lvl="0" indent="0" algn="l" rtl="0">
              <a:lnSpc>
                <a:spcPct val="153150"/>
              </a:lnSpc>
              <a:spcBef>
                <a:spcPts val="0"/>
              </a:spcBef>
              <a:spcAft>
                <a:spcPts val="0"/>
              </a:spcAft>
              <a:buNone/>
            </a:pPr>
            <a:endParaRPr sz="4000" b="1">
              <a:solidFill>
                <a:srgbClr val="5271FF"/>
              </a:solidFill>
              <a:latin typeface="Times New Roman"/>
              <a:ea typeface="Times New Roman"/>
              <a:cs typeface="Times New Roman"/>
              <a:sym typeface="Times New Roman"/>
            </a:endParaRPr>
          </a:p>
        </p:txBody>
      </p:sp>
      <p:sp>
        <p:nvSpPr>
          <p:cNvPr id="116" name="Google Shape;116;p15"/>
          <p:cNvSpPr txBox="1"/>
          <p:nvPr/>
        </p:nvSpPr>
        <p:spPr>
          <a:xfrm>
            <a:off x="496383" y="1772557"/>
            <a:ext cx="12625800" cy="6741900"/>
          </a:xfrm>
          <a:prstGeom prst="rect">
            <a:avLst/>
          </a:prstGeom>
          <a:noFill/>
          <a:ln>
            <a:noFill/>
          </a:ln>
        </p:spPr>
        <p:txBody>
          <a:bodyPr spcFirstLastPara="1" wrap="square" lIns="91425" tIns="45700" rIns="91425" bIns="45700" anchor="t" anchorCtr="0">
            <a:spAutoFit/>
          </a:bodyPr>
          <a:lstStyle/>
          <a:p>
            <a:pPr marL="457200" marR="0" lvl="0" indent="0" algn="just" rtl="0">
              <a:spcBef>
                <a:spcPts val="0"/>
              </a:spcBef>
              <a:spcAft>
                <a:spcPts val="0"/>
              </a:spcAft>
              <a:buNone/>
            </a:pPr>
            <a:r>
              <a:rPr lang="en-US" sz="3600">
                <a:solidFill>
                  <a:schemeClr val="dk1"/>
                </a:solidFill>
                <a:latin typeface="Times New Roman"/>
                <a:ea typeface="Times New Roman"/>
                <a:cs typeface="Times New Roman"/>
                <a:sym typeface="Times New Roman"/>
              </a:rPr>
              <a:t>SkillArise has the potential to transform personalized learning and career development by offering a comprehensive platform that intelligently assesses user skills, uncovers learning gaps, and delivers custom learning paths. With features like smart resume parsing, adaptive skill quizzes, and curated roadmaps, it enables users to take charge of their upskilling journey. The platform’s integration of mock interviews, soft skill analysis, gamified learning modules, and social learning guilds supports holistic growth—both technical and interpersonal. Especially suited for students, job seekers, and working professionals, SkillArise provides a scalable, intelligent, and engaging ecosystem that prepares users for success in today’s dynamic job market.</a:t>
            </a:r>
            <a:endParaRPr sz="36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20"/>
        <p:cNvGrpSpPr/>
        <p:nvPr/>
      </p:nvGrpSpPr>
      <p:grpSpPr>
        <a:xfrm>
          <a:off x="0" y="0"/>
          <a:ext cx="0" cy="0"/>
          <a:chOff x="0" y="0"/>
          <a:chExt cx="0" cy="0"/>
        </a:xfrm>
      </p:grpSpPr>
      <p:sp>
        <p:nvSpPr>
          <p:cNvPr id="121" name="Google Shape;121;p16"/>
          <p:cNvSpPr/>
          <p:nvPr/>
        </p:nvSpPr>
        <p:spPr>
          <a:xfrm>
            <a:off x="-1347061" y="7725054"/>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122" name="Google Shape;122;p16"/>
          <p:cNvSpPr/>
          <p:nvPr/>
        </p:nvSpPr>
        <p:spPr>
          <a:xfrm>
            <a:off x="13675426" y="7725054"/>
            <a:ext cx="9225147" cy="8229600"/>
          </a:xfrm>
          <a:custGeom>
            <a:avLst/>
            <a:gdLst/>
            <a:ahLst/>
            <a:cxnLst/>
            <a:rect l="l" t="t" r="r" b="b"/>
            <a:pathLst>
              <a:path w="9225147" h="8229600" extrusionOk="0">
                <a:moveTo>
                  <a:pt x="0" y="0"/>
                </a:moveTo>
                <a:lnTo>
                  <a:pt x="9225148" y="0"/>
                </a:lnTo>
                <a:lnTo>
                  <a:pt x="9225148" y="8229600"/>
                </a:lnTo>
                <a:lnTo>
                  <a:pt x="0" y="822960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123" name="Google Shape;123;p16"/>
          <p:cNvSpPr txBox="1"/>
          <p:nvPr/>
        </p:nvSpPr>
        <p:spPr>
          <a:xfrm>
            <a:off x="2237610" y="440197"/>
            <a:ext cx="8724900" cy="615600"/>
          </a:xfrm>
          <a:prstGeom prst="rect">
            <a:avLst/>
          </a:prstGeom>
          <a:noFill/>
          <a:ln>
            <a:noFill/>
          </a:ln>
        </p:spPr>
        <p:txBody>
          <a:bodyPr spcFirstLastPara="1" wrap="square" lIns="0" tIns="0" rIns="0" bIns="0" anchor="t" anchorCtr="0">
            <a:spAutoFit/>
          </a:bodyPr>
          <a:lstStyle/>
          <a:p>
            <a:pPr marL="0" marR="0" lvl="0" indent="0" algn="l" rtl="0">
              <a:lnSpc>
                <a:spcPct val="105005"/>
              </a:lnSpc>
              <a:spcBef>
                <a:spcPts val="0"/>
              </a:spcBef>
              <a:spcAft>
                <a:spcPts val="0"/>
              </a:spcAft>
              <a:buNone/>
            </a:pPr>
            <a:r>
              <a:rPr lang="en-US" sz="4000" b="1">
                <a:solidFill>
                  <a:srgbClr val="5271FF"/>
                </a:solidFill>
                <a:latin typeface="Times New Roman"/>
                <a:ea typeface="Times New Roman"/>
                <a:cs typeface="Times New Roman"/>
                <a:sym typeface="Times New Roman"/>
              </a:rPr>
              <a:t>The Solution Proposed</a:t>
            </a:r>
            <a:endParaRPr sz="4000">
              <a:latin typeface="Times New Roman"/>
              <a:ea typeface="Times New Roman"/>
              <a:cs typeface="Times New Roman"/>
              <a:sym typeface="Times New Roman"/>
            </a:endParaRPr>
          </a:p>
        </p:txBody>
      </p:sp>
      <p:sp>
        <p:nvSpPr>
          <p:cNvPr id="124" name="Google Shape;124;p16"/>
          <p:cNvSpPr/>
          <p:nvPr/>
        </p:nvSpPr>
        <p:spPr>
          <a:xfrm>
            <a:off x="152400" y="4233"/>
            <a:ext cx="1736688" cy="1654195"/>
          </a:xfrm>
          <a:custGeom>
            <a:avLst/>
            <a:gdLst/>
            <a:ahLst/>
            <a:cxnLst/>
            <a:rect l="l" t="t" r="r" b="b"/>
            <a:pathLst>
              <a:path w="1736688" h="1654195" extrusionOk="0">
                <a:moveTo>
                  <a:pt x="0" y="0"/>
                </a:moveTo>
                <a:lnTo>
                  <a:pt x="1736688" y="0"/>
                </a:lnTo>
                <a:lnTo>
                  <a:pt x="1736688" y="1654195"/>
                </a:lnTo>
                <a:lnTo>
                  <a:pt x="0" y="1654195"/>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grpSp>
        <p:nvGrpSpPr>
          <p:cNvPr id="125" name="Google Shape;125;p16"/>
          <p:cNvGrpSpPr/>
          <p:nvPr/>
        </p:nvGrpSpPr>
        <p:grpSpPr>
          <a:xfrm>
            <a:off x="1363644" y="1903626"/>
            <a:ext cx="15560885" cy="12236705"/>
            <a:chOff x="588531" y="1294510"/>
            <a:chExt cx="8651025" cy="8358947"/>
          </a:xfrm>
        </p:grpSpPr>
        <p:sp>
          <p:nvSpPr>
            <p:cNvPr id="126" name="Google Shape;126;p16"/>
            <p:cNvSpPr/>
            <p:nvPr/>
          </p:nvSpPr>
          <p:spPr>
            <a:xfrm>
              <a:off x="588531" y="1294510"/>
              <a:ext cx="4263504" cy="4632678"/>
            </a:xfrm>
            <a:prstGeom prst="roundRect">
              <a:avLst>
                <a:gd name="adj" fmla="val 0"/>
              </a:avLst>
            </a:prstGeom>
            <a:solidFill>
              <a:schemeClr val="lt1"/>
            </a:solidFill>
            <a:ln w="9525" cap="flat" cmpd="sng">
              <a:solidFill>
                <a:srgbClr val="D8D8D8"/>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spcBef>
                  <a:spcPts val="0"/>
                </a:spcBef>
                <a:spcAft>
                  <a:spcPts val="0"/>
                </a:spcAft>
                <a:buNone/>
              </a:pPr>
              <a:endParaRPr sz="3200" b="1">
                <a:solidFill>
                  <a:srgbClr val="7F7F7F"/>
                </a:solidFill>
                <a:latin typeface="Times New Roman"/>
                <a:ea typeface="Times New Roman"/>
                <a:cs typeface="Times New Roman"/>
                <a:sym typeface="Times New Roman"/>
              </a:endParaRPr>
            </a:p>
          </p:txBody>
        </p:sp>
        <p:sp>
          <p:nvSpPr>
            <p:cNvPr id="127" name="Google Shape;127;p16"/>
            <p:cNvSpPr txBox="1"/>
            <p:nvPr/>
          </p:nvSpPr>
          <p:spPr>
            <a:xfrm>
              <a:off x="637316" y="1399557"/>
              <a:ext cx="4110000" cy="8253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500">
                  <a:solidFill>
                    <a:srgbClr val="538CD5"/>
                  </a:solidFill>
                  <a:latin typeface="Times New Roman"/>
                  <a:ea typeface="Times New Roman"/>
                  <a:cs typeface="Times New Roman"/>
                  <a:sym typeface="Times New Roman"/>
                </a:rPr>
                <a:t>Solution Highlights: </a:t>
              </a:r>
              <a:endParaRPr sz="3500">
                <a:solidFill>
                  <a:srgbClr val="538CD5"/>
                </a:solidFill>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Unified  platform  for  skill assessment ,learning  and interview readiness.</a:t>
              </a:r>
              <a:endParaRPr sz="3600">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AI-powered personalization based on resume and performance.</a:t>
              </a:r>
              <a:endParaRPr sz="3600">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Gamified experience with XP, badges, and progress tracking. </a:t>
              </a:r>
              <a:endParaRPr sz="3600">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Prepares users in both technical and soft skills.</a:t>
              </a:r>
              <a:endParaRPr sz="3600">
                <a:latin typeface="Times New Roman"/>
                <a:ea typeface="Times New Roman"/>
                <a:cs typeface="Times New Roman"/>
                <a:sym typeface="Times New Roman"/>
              </a:endParaRPr>
            </a:p>
            <a:p>
              <a:pPr marL="457200" marR="0" lvl="0" indent="-457200" algn="just" rtl="0">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Community-drive learning via guilds and leaderboards.</a:t>
              </a:r>
              <a:endParaRPr sz="3600">
                <a:latin typeface="Times New Roman"/>
                <a:ea typeface="Times New Roman"/>
                <a:cs typeface="Times New Roman"/>
                <a:sym typeface="Times New Roman"/>
              </a:endParaRPr>
            </a:p>
            <a:p>
              <a:pPr marL="0" marR="0" lvl="0" indent="0" algn="just" rtl="0">
                <a:spcBef>
                  <a:spcPts val="0"/>
                </a:spcBef>
                <a:spcAft>
                  <a:spcPts val="0"/>
                </a:spcAft>
                <a:buNone/>
              </a:pPr>
              <a:endParaRPr sz="3400">
                <a:solidFill>
                  <a:srgbClr val="7F7F7F"/>
                </a:solidFill>
                <a:latin typeface="Times New Roman"/>
                <a:ea typeface="Times New Roman"/>
                <a:cs typeface="Times New Roman"/>
                <a:sym typeface="Times New Roman"/>
              </a:endParaRPr>
            </a:p>
            <a:p>
              <a:pPr marL="0" marR="0" lvl="0" indent="0" algn="just" rtl="0">
                <a:spcBef>
                  <a:spcPts val="0"/>
                </a:spcBef>
                <a:spcAft>
                  <a:spcPts val="0"/>
                </a:spcAft>
                <a:buNone/>
              </a:pPr>
              <a:endParaRPr sz="3200">
                <a:solidFill>
                  <a:srgbClr val="7F7F7F"/>
                </a:solidFill>
                <a:latin typeface="Times New Roman"/>
                <a:ea typeface="Times New Roman"/>
                <a:cs typeface="Times New Roman"/>
                <a:sym typeface="Times New Roman"/>
              </a:endParaRPr>
            </a:p>
            <a:p>
              <a:pPr marL="0" marR="0" lvl="0" indent="0" algn="just" rtl="0">
                <a:spcBef>
                  <a:spcPts val="0"/>
                </a:spcBef>
                <a:spcAft>
                  <a:spcPts val="0"/>
                </a:spcAft>
                <a:buNone/>
              </a:pPr>
              <a:endParaRPr sz="3200">
                <a:solidFill>
                  <a:srgbClr val="7F7F7F"/>
                </a:solidFill>
                <a:latin typeface="Times New Roman"/>
                <a:ea typeface="Times New Roman"/>
                <a:cs typeface="Times New Roman"/>
                <a:sym typeface="Times New Roman"/>
              </a:endParaRPr>
            </a:p>
            <a:p>
              <a:pPr marL="0" marR="0" lvl="0" indent="0" algn="just" rtl="0">
                <a:spcBef>
                  <a:spcPts val="0"/>
                </a:spcBef>
                <a:spcAft>
                  <a:spcPts val="0"/>
                </a:spcAft>
                <a:buNone/>
              </a:pPr>
              <a:endParaRPr sz="320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a:solidFill>
                  <a:srgbClr val="7F7F7F"/>
                </a:solidFill>
                <a:latin typeface="Times New Roman"/>
                <a:ea typeface="Times New Roman"/>
                <a:cs typeface="Times New Roman"/>
                <a:sym typeface="Times New Roman"/>
              </a:endParaRPr>
            </a:p>
          </p:txBody>
        </p:sp>
        <p:sp>
          <p:nvSpPr>
            <p:cNvPr id="128" name="Google Shape;128;p16"/>
            <p:cNvSpPr/>
            <p:nvPr/>
          </p:nvSpPr>
          <p:spPr>
            <a:xfrm>
              <a:off x="4975956" y="1294510"/>
              <a:ext cx="4263600" cy="4632600"/>
            </a:xfrm>
            <a:prstGeom prst="roundRect">
              <a:avLst>
                <a:gd name="adj" fmla="val 0"/>
              </a:avLst>
            </a:prstGeom>
            <a:solidFill>
              <a:schemeClr val="lt1"/>
            </a:solidFill>
            <a:ln w="9525" cap="flat" cmpd="sng">
              <a:solidFill>
                <a:srgbClr val="D8D8D8"/>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spcBef>
                  <a:spcPts val="0"/>
                </a:spcBef>
                <a:spcAft>
                  <a:spcPts val="0"/>
                </a:spcAft>
                <a:buNone/>
              </a:pPr>
              <a:endParaRPr sz="3200" b="1">
                <a:solidFill>
                  <a:srgbClr val="7F7F7F"/>
                </a:solidFill>
                <a:latin typeface="Times New Roman"/>
                <a:ea typeface="Times New Roman"/>
                <a:cs typeface="Times New Roman"/>
                <a:sym typeface="Times New Roman"/>
              </a:endParaRPr>
            </a:p>
          </p:txBody>
        </p:sp>
        <p:sp>
          <p:nvSpPr>
            <p:cNvPr id="129" name="Google Shape;129;p16"/>
            <p:cNvSpPr txBox="1"/>
            <p:nvPr/>
          </p:nvSpPr>
          <p:spPr>
            <a:xfrm>
              <a:off x="5178180" y="1399559"/>
              <a:ext cx="3789900" cy="783157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dirty="0">
                  <a:solidFill>
                    <a:srgbClr val="7F7F7F"/>
                  </a:solidFill>
                  <a:latin typeface="Times New Roman"/>
                  <a:ea typeface="Times New Roman"/>
                  <a:cs typeface="Times New Roman"/>
                  <a:sym typeface="Times New Roman"/>
                </a:rPr>
                <a:t> </a:t>
              </a:r>
              <a:r>
                <a:rPr lang="en-US" sz="3500" dirty="0">
                  <a:solidFill>
                    <a:srgbClr val="538CD5"/>
                  </a:solidFill>
                  <a:latin typeface="Times New Roman"/>
                  <a:ea typeface="Times New Roman"/>
                  <a:cs typeface="Times New Roman"/>
                  <a:sym typeface="Times New Roman"/>
                </a:rPr>
                <a:t>Key Features / Approach</a:t>
              </a:r>
              <a:endParaRPr sz="500" dirty="0">
                <a:latin typeface="Times New Roman"/>
                <a:ea typeface="Times New Roman"/>
                <a:cs typeface="Times New Roman"/>
                <a:sym typeface="Times New Roman"/>
              </a:endParaRPr>
            </a:p>
            <a:p>
              <a:pPr marL="0" marR="0" lvl="0" indent="0" algn="l" rtl="0">
                <a:spcBef>
                  <a:spcPts val="0"/>
                </a:spcBef>
                <a:spcAft>
                  <a:spcPts val="0"/>
                </a:spcAft>
                <a:buNone/>
              </a:pPr>
              <a:endParaRPr sz="3200" dirty="0">
                <a:solidFill>
                  <a:srgbClr val="7F7F7F"/>
                </a:solidFill>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3600"/>
                <a:buFont typeface="Times New Roman"/>
                <a:buChar char="●"/>
              </a:pPr>
              <a:r>
                <a:rPr lang="en-US" sz="3600" dirty="0">
                  <a:solidFill>
                    <a:schemeClr val="dk1"/>
                  </a:solidFill>
                  <a:latin typeface="Times New Roman"/>
                  <a:ea typeface="Times New Roman"/>
                  <a:cs typeface="Times New Roman"/>
                  <a:sym typeface="Times New Roman"/>
                </a:rPr>
                <a:t>Resume Parser</a:t>
              </a:r>
              <a:endParaRPr sz="3600" dirty="0">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3600"/>
                <a:buFont typeface="Times New Roman"/>
                <a:buChar char="●"/>
              </a:pPr>
              <a:r>
                <a:rPr lang="en-US" sz="3600" dirty="0">
                  <a:solidFill>
                    <a:schemeClr val="dk1"/>
                  </a:solidFill>
                  <a:latin typeface="Times New Roman"/>
                  <a:ea typeface="Times New Roman"/>
                  <a:cs typeface="Times New Roman"/>
                  <a:sym typeface="Times New Roman"/>
                </a:rPr>
                <a:t>Adaptive Quiz Engine</a:t>
              </a:r>
              <a:endParaRPr sz="3600" dirty="0">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3600"/>
                <a:buFont typeface="Times New Roman"/>
                <a:buChar char="●"/>
              </a:pPr>
              <a:r>
                <a:rPr lang="en-US" sz="3600" dirty="0">
                  <a:solidFill>
                    <a:schemeClr val="dk1"/>
                  </a:solidFill>
                  <a:latin typeface="Times New Roman"/>
                  <a:ea typeface="Times New Roman"/>
                  <a:cs typeface="Times New Roman"/>
                  <a:sym typeface="Times New Roman"/>
                </a:rPr>
                <a:t>Learning Roadmap</a:t>
              </a:r>
              <a:endParaRPr sz="3600" dirty="0">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3600"/>
                <a:buFont typeface="Times New Roman"/>
                <a:buChar char="●"/>
              </a:pPr>
              <a:r>
                <a:rPr lang="en-US" sz="3600" dirty="0">
                  <a:solidFill>
                    <a:schemeClr val="dk1"/>
                  </a:solidFill>
                  <a:latin typeface="Times New Roman"/>
                  <a:ea typeface="Times New Roman"/>
                  <a:cs typeface="Times New Roman"/>
                  <a:sym typeface="Times New Roman"/>
                </a:rPr>
                <a:t>Mock Interview AI</a:t>
              </a:r>
              <a:endParaRPr sz="3600" dirty="0">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3600"/>
                <a:buFont typeface="Times New Roman"/>
                <a:buChar char="●"/>
              </a:pPr>
              <a:r>
                <a:rPr lang="en-US" sz="3600" dirty="0">
                  <a:solidFill>
                    <a:schemeClr val="dk1"/>
                  </a:solidFill>
                  <a:latin typeface="Times New Roman"/>
                  <a:ea typeface="Times New Roman"/>
                  <a:cs typeface="Times New Roman"/>
                  <a:sym typeface="Times New Roman"/>
                </a:rPr>
                <a:t>Gamified Lessons</a:t>
              </a:r>
              <a:endParaRPr sz="3600" dirty="0">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3600"/>
                <a:buFont typeface="Times New Roman"/>
                <a:buChar char="●"/>
              </a:pPr>
              <a:r>
                <a:rPr lang="en-US" sz="3600" dirty="0">
                  <a:solidFill>
                    <a:schemeClr val="dk1"/>
                  </a:solidFill>
                  <a:latin typeface="Times New Roman"/>
                  <a:ea typeface="Times New Roman"/>
                  <a:cs typeface="Times New Roman"/>
                  <a:sym typeface="Times New Roman"/>
                </a:rPr>
                <a:t>Guild System</a:t>
              </a:r>
            </a:p>
            <a:p>
              <a:pPr marL="457200" marR="0" lvl="0" indent="-457200" algn="l" rtl="0">
                <a:spcBef>
                  <a:spcPts val="0"/>
                </a:spcBef>
                <a:spcAft>
                  <a:spcPts val="0"/>
                </a:spcAft>
                <a:buClr>
                  <a:schemeClr val="dk1"/>
                </a:buClr>
                <a:buSzPts val="3600"/>
                <a:buFont typeface="Times New Roman"/>
                <a:buChar char="●"/>
              </a:pPr>
              <a:r>
                <a:rPr lang="en-US" sz="3600" dirty="0">
                  <a:solidFill>
                    <a:schemeClr val="dk1"/>
                  </a:solidFill>
                  <a:latin typeface="Times New Roman"/>
                  <a:ea typeface="Times New Roman"/>
                  <a:cs typeface="Times New Roman"/>
                  <a:sym typeface="Times New Roman"/>
                </a:rPr>
                <a:t>Mentor Booking</a:t>
              </a:r>
            </a:p>
            <a:p>
              <a:pPr marL="457200" marR="0" lvl="0" indent="-457200" algn="l" rtl="0">
                <a:spcBef>
                  <a:spcPts val="0"/>
                </a:spcBef>
                <a:spcAft>
                  <a:spcPts val="0"/>
                </a:spcAft>
                <a:buClr>
                  <a:schemeClr val="dk1"/>
                </a:buClr>
                <a:buSzPts val="3600"/>
                <a:buFont typeface="Times New Roman"/>
                <a:buChar char="●"/>
              </a:pPr>
              <a:r>
                <a:rPr lang="en-US" sz="3600" dirty="0">
                  <a:solidFill>
                    <a:schemeClr val="dk1"/>
                  </a:solidFill>
                  <a:latin typeface="Times New Roman"/>
                  <a:ea typeface="Times New Roman"/>
                  <a:cs typeface="Times New Roman"/>
                  <a:sym typeface="Times New Roman"/>
                </a:rPr>
                <a:t>Study AI</a:t>
              </a:r>
              <a:endParaRPr sz="3600" dirty="0">
                <a:latin typeface="Times New Roman"/>
                <a:ea typeface="Times New Roman"/>
                <a:cs typeface="Times New Roman"/>
                <a:sym typeface="Times New Roman"/>
              </a:endParaRPr>
            </a:p>
            <a:p>
              <a:pPr marR="0" lvl="0" algn="l" rtl="0">
                <a:spcBef>
                  <a:spcPts val="0"/>
                </a:spcBef>
                <a:spcAft>
                  <a:spcPts val="0"/>
                </a:spcAft>
                <a:buClr>
                  <a:schemeClr val="dk1"/>
                </a:buClr>
                <a:buSzPts val="3600"/>
              </a:pPr>
              <a:endParaRPr sz="3600" dirty="0">
                <a:latin typeface="Times New Roman"/>
                <a:ea typeface="Times New Roman"/>
                <a:cs typeface="Times New Roman"/>
                <a:sym typeface="Times New Roman"/>
              </a:endParaRPr>
            </a:p>
            <a:p>
              <a:pPr marL="0" marR="0" lvl="0" indent="0" algn="l" rtl="0">
                <a:spcBef>
                  <a:spcPts val="0"/>
                </a:spcBef>
                <a:spcAft>
                  <a:spcPts val="0"/>
                </a:spcAft>
                <a:buNone/>
              </a:pPr>
              <a:endParaRPr sz="3400" dirty="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dirty="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dirty="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dirty="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dirty="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dirty="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dirty="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dirty="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dirty="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endParaRPr sz="3200" dirty="0">
                <a:solidFill>
                  <a:srgbClr val="7F7F7F"/>
                </a:solidFill>
                <a:latin typeface="Times New Roman"/>
                <a:ea typeface="Times New Roman"/>
                <a:cs typeface="Times New Roman"/>
                <a:sym typeface="Times New Roman"/>
              </a:endParaRPr>
            </a:p>
            <a:p>
              <a:pPr marL="0" marR="0" lvl="0" indent="0" algn="l" rtl="0">
                <a:spcBef>
                  <a:spcPts val="0"/>
                </a:spcBef>
                <a:spcAft>
                  <a:spcPts val="0"/>
                </a:spcAft>
                <a:buNone/>
              </a:pPr>
              <a:r>
                <a:rPr lang="en-US" sz="3200" dirty="0">
                  <a:solidFill>
                    <a:srgbClr val="7F7F7F"/>
                  </a:solidFill>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33"/>
        <p:cNvGrpSpPr/>
        <p:nvPr/>
      </p:nvGrpSpPr>
      <p:grpSpPr>
        <a:xfrm>
          <a:off x="0" y="0"/>
          <a:ext cx="0" cy="0"/>
          <a:chOff x="0" y="0"/>
          <a:chExt cx="0" cy="0"/>
        </a:xfrm>
      </p:grpSpPr>
      <p:sp>
        <p:nvSpPr>
          <p:cNvPr id="134" name="Google Shape;134;p17"/>
          <p:cNvSpPr/>
          <p:nvPr/>
        </p:nvSpPr>
        <p:spPr>
          <a:xfrm>
            <a:off x="0" y="0"/>
            <a:ext cx="4724385" cy="10377108"/>
          </a:xfrm>
          <a:custGeom>
            <a:avLst/>
            <a:gdLst/>
            <a:ahLst/>
            <a:cxnLst/>
            <a:rect l="l" t="t" r="r" b="b"/>
            <a:pathLst>
              <a:path w="731931" h="1607686" extrusionOk="0">
                <a:moveTo>
                  <a:pt x="0" y="0"/>
                </a:moveTo>
                <a:lnTo>
                  <a:pt x="731931" y="0"/>
                </a:lnTo>
                <a:lnTo>
                  <a:pt x="731931" y="1607686"/>
                </a:lnTo>
                <a:lnTo>
                  <a:pt x="0" y="1607686"/>
                </a:lnTo>
                <a:close/>
              </a:path>
            </a:pathLst>
          </a:custGeom>
          <a:blipFill rotWithShape="1">
            <a:blip r:embed="rId3">
              <a:alphaModFix/>
            </a:blip>
            <a:stretch>
              <a:fillRect l="-30679" r="-25979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17"/>
          <p:cNvSpPr txBox="1"/>
          <p:nvPr/>
        </p:nvSpPr>
        <p:spPr>
          <a:xfrm>
            <a:off x="5715000" y="647700"/>
            <a:ext cx="11430000" cy="16038108"/>
          </a:xfrm>
          <a:prstGeom prst="rect">
            <a:avLst/>
          </a:prstGeom>
          <a:noFill/>
          <a:ln>
            <a:noFill/>
          </a:ln>
        </p:spPr>
        <p:txBody>
          <a:bodyPr spcFirstLastPara="1" wrap="square" lIns="0" tIns="0" rIns="0" bIns="0" anchor="t" anchorCtr="0">
            <a:spAutoFit/>
          </a:bodyPr>
          <a:lstStyle/>
          <a:p>
            <a:pPr marL="0" marR="0" lvl="0" indent="0" algn="l" rtl="0">
              <a:lnSpc>
                <a:spcPct val="105005"/>
              </a:lnSpc>
              <a:spcBef>
                <a:spcPts val="0"/>
              </a:spcBef>
              <a:spcAft>
                <a:spcPts val="0"/>
              </a:spcAft>
              <a:buNone/>
            </a:pPr>
            <a:r>
              <a:rPr lang="en-US" sz="4000" b="1" dirty="0">
                <a:solidFill>
                  <a:srgbClr val="5271FF"/>
                </a:solidFill>
                <a:latin typeface="Times New Roman"/>
                <a:ea typeface="Times New Roman"/>
                <a:cs typeface="Times New Roman"/>
                <a:sym typeface="Times New Roman"/>
              </a:rPr>
              <a:t>Technologies Used</a:t>
            </a:r>
            <a:endParaRPr sz="4000" b="1" dirty="0">
              <a:solidFill>
                <a:srgbClr val="5271FF"/>
              </a:solidFill>
              <a:latin typeface="Times New Roman"/>
              <a:ea typeface="Times New Roman"/>
              <a:cs typeface="Times New Roman"/>
              <a:sym typeface="Times New Roman"/>
            </a:endParaRPr>
          </a:p>
          <a:p>
            <a:pPr marL="0" marR="0" lvl="0" indent="0" algn="l" rtl="0">
              <a:lnSpc>
                <a:spcPct val="105005"/>
              </a:lnSpc>
              <a:spcBef>
                <a:spcPts val="0"/>
              </a:spcBef>
              <a:spcAft>
                <a:spcPts val="0"/>
              </a:spcAft>
              <a:buNone/>
            </a:pPr>
            <a:r>
              <a:rPr lang="en-US" sz="4000" b="1" dirty="0">
                <a:solidFill>
                  <a:srgbClr val="5271FF"/>
                </a:solidFill>
                <a:latin typeface="Times New Roman"/>
                <a:ea typeface="Times New Roman"/>
                <a:cs typeface="Times New Roman"/>
                <a:sym typeface="Times New Roman"/>
              </a:rPr>
              <a:t> </a:t>
            </a:r>
            <a:r>
              <a:rPr lang="en-US" sz="4000" b="1" dirty="0">
                <a:solidFill>
                  <a:srgbClr val="538CD5"/>
                </a:solidFill>
                <a:latin typeface="Times New Roman"/>
                <a:ea typeface="Times New Roman"/>
                <a:cs typeface="Times New Roman"/>
                <a:sym typeface="Times New Roman"/>
              </a:rPr>
              <a:t>Frontend: </a:t>
            </a:r>
            <a:endParaRPr sz="4000" b="1" dirty="0">
              <a:solidFill>
                <a:srgbClr val="538CD5"/>
              </a:solidFill>
              <a:latin typeface="Times New Roman"/>
              <a:ea typeface="Times New Roman"/>
              <a:cs typeface="Times New Roman"/>
              <a:sym typeface="Times New Roman"/>
            </a:endParaRPr>
          </a:p>
          <a:p>
            <a:pPr marL="0" marR="0" lvl="0" indent="0" algn="l" rtl="0">
              <a:lnSpc>
                <a:spcPct val="105077"/>
              </a:lnSpc>
              <a:spcBef>
                <a:spcPts val="0"/>
              </a:spcBef>
              <a:spcAft>
                <a:spcPts val="0"/>
              </a:spcAft>
              <a:buNone/>
            </a:pPr>
            <a:endParaRPr sz="3500" b="1" dirty="0">
              <a:solidFill>
                <a:srgbClr val="538CD5"/>
              </a:solidFill>
              <a:latin typeface="Times New Roman"/>
              <a:ea typeface="Times New Roman"/>
              <a:cs typeface="Times New Roman"/>
              <a:sym typeface="Times New Roman"/>
            </a:endParaRPr>
          </a:p>
          <a:p>
            <a:pPr marL="457200" marR="0" lvl="0" indent="-457200" algn="just" rtl="0">
              <a:lnSpc>
                <a:spcPct val="105077"/>
              </a:lnSpc>
              <a:spcBef>
                <a:spcPts val="0"/>
              </a:spcBef>
              <a:spcAft>
                <a:spcPts val="0"/>
              </a:spcAft>
              <a:buClr>
                <a:schemeClr val="dk1"/>
              </a:buClr>
              <a:buSzPts val="3600"/>
              <a:buChar char="●"/>
            </a:pPr>
            <a:r>
              <a:rPr lang="en-US" sz="3600" b="1" dirty="0">
                <a:solidFill>
                  <a:schemeClr val="dk1"/>
                </a:solidFill>
                <a:latin typeface="Times New Roman"/>
                <a:ea typeface="Times New Roman"/>
                <a:cs typeface="Times New Roman"/>
                <a:sym typeface="Times New Roman"/>
              </a:rPr>
              <a:t>React.js</a:t>
            </a:r>
            <a:r>
              <a:rPr lang="en-US" sz="3600" dirty="0">
                <a:solidFill>
                  <a:schemeClr val="dk1"/>
                </a:solidFill>
                <a:latin typeface="Times New Roman"/>
                <a:ea typeface="Times New Roman"/>
                <a:cs typeface="Times New Roman"/>
                <a:sym typeface="Times New Roman"/>
              </a:rPr>
              <a:t> – Component-based, fast and scalable UI.</a:t>
            </a:r>
          </a:p>
          <a:p>
            <a:pPr marL="457200" marR="0" lvl="0" indent="-457200" algn="just" rtl="0">
              <a:lnSpc>
                <a:spcPct val="105077"/>
              </a:lnSpc>
              <a:spcBef>
                <a:spcPts val="0"/>
              </a:spcBef>
              <a:spcAft>
                <a:spcPts val="0"/>
              </a:spcAft>
              <a:buClr>
                <a:schemeClr val="dk1"/>
              </a:buClr>
              <a:buSzPts val="3600"/>
              <a:buChar char="●"/>
            </a:pPr>
            <a:endParaRPr sz="3600" dirty="0">
              <a:solidFill>
                <a:schemeClr val="dk1"/>
              </a:solidFill>
              <a:latin typeface="Times New Roman"/>
              <a:ea typeface="Times New Roman"/>
              <a:cs typeface="Times New Roman"/>
              <a:sym typeface="Times New Roman"/>
            </a:endParaRPr>
          </a:p>
          <a:p>
            <a:pPr marL="457200" lvl="0" indent="-457200" algn="just" rtl="0">
              <a:lnSpc>
                <a:spcPct val="115000"/>
              </a:lnSpc>
              <a:spcBef>
                <a:spcPts val="0"/>
              </a:spcBef>
              <a:spcAft>
                <a:spcPts val="0"/>
              </a:spcAft>
              <a:buSzPts val="3600"/>
              <a:buChar char="●"/>
            </a:pPr>
            <a:r>
              <a:rPr lang="en-US" sz="3600" b="1" dirty="0">
                <a:solidFill>
                  <a:schemeClr val="dk1"/>
                </a:solidFill>
                <a:latin typeface="Times New Roman"/>
                <a:ea typeface="Times New Roman"/>
                <a:cs typeface="Times New Roman"/>
                <a:sym typeface="Times New Roman"/>
              </a:rPr>
              <a:t>Tailwind CSS</a:t>
            </a:r>
            <a:r>
              <a:rPr lang="en-US" sz="3600" dirty="0">
                <a:solidFill>
                  <a:schemeClr val="dk1"/>
                </a:solidFill>
                <a:latin typeface="Times New Roman"/>
                <a:ea typeface="Times New Roman"/>
                <a:cs typeface="Times New Roman"/>
                <a:sym typeface="Times New Roman"/>
              </a:rPr>
              <a:t> – Utility-first CSS framework for modern,    responsive styling.</a:t>
            </a:r>
          </a:p>
          <a:p>
            <a:pPr marL="457200" lvl="0" indent="-457200" algn="just" rtl="0">
              <a:lnSpc>
                <a:spcPct val="115000"/>
              </a:lnSpc>
              <a:spcBef>
                <a:spcPts val="0"/>
              </a:spcBef>
              <a:spcAft>
                <a:spcPts val="0"/>
              </a:spcAft>
              <a:buSzPts val="3600"/>
              <a:buChar char="●"/>
            </a:pPr>
            <a:endParaRPr sz="3600" dirty="0">
              <a:solidFill>
                <a:schemeClr val="dk1"/>
              </a:solidFill>
              <a:latin typeface="Times New Roman"/>
              <a:ea typeface="Times New Roman"/>
              <a:cs typeface="Times New Roman"/>
              <a:sym typeface="Times New Roman"/>
            </a:endParaRPr>
          </a:p>
          <a:p>
            <a:pPr marL="457200" lvl="0" indent="-457200" algn="just" rtl="0">
              <a:lnSpc>
                <a:spcPct val="115000"/>
              </a:lnSpc>
              <a:spcBef>
                <a:spcPts val="0"/>
              </a:spcBef>
              <a:spcAft>
                <a:spcPts val="0"/>
              </a:spcAft>
              <a:buSzPts val="3600"/>
              <a:buChar char="●"/>
            </a:pPr>
            <a:r>
              <a:rPr lang="en-US" sz="3600" b="1" dirty="0" err="1">
                <a:solidFill>
                  <a:schemeClr val="dk1"/>
                </a:solidFill>
                <a:latin typeface="Times New Roman"/>
                <a:ea typeface="Times New Roman"/>
                <a:cs typeface="Times New Roman"/>
                <a:sym typeface="Times New Roman"/>
              </a:rPr>
              <a:t>WebXR</a:t>
            </a:r>
            <a:r>
              <a:rPr lang="en-US" sz="3600" b="1" dirty="0">
                <a:solidFill>
                  <a:schemeClr val="dk1"/>
                </a:solidFill>
                <a:latin typeface="Times New Roman"/>
                <a:ea typeface="Times New Roman"/>
                <a:cs typeface="Times New Roman"/>
                <a:sym typeface="Times New Roman"/>
              </a:rPr>
              <a:t> (Optional)</a:t>
            </a:r>
            <a:r>
              <a:rPr lang="en-US" sz="3600" dirty="0">
                <a:solidFill>
                  <a:schemeClr val="dk1"/>
                </a:solidFill>
                <a:latin typeface="Times New Roman"/>
                <a:ea typeface="Times New Roman"/>
                <a:cs typeface="Times New Roman"/>
                <a:sym typeface="Times New Roman"/>
              </a:rPr>
              <a:t> – For 3D models and AR/VR simulations.</a:t>
            </a:r>
          </a:p>
          <a:p>
            <a:pPr marL="457200" lvl="0" indent="-457200" algn="just" rtl="0">
              <a:lnSpc>
                <a:spcPct val="115000"/>
              </a:lnSpc>
              <a:spcBef>
                <a:spcPts val="0"/>
              </a:spcBef>
              <a:spcAft>
                <a:spcPts val="0"/>
              </a:spcAft>
              <a:buSzPts val="3600"/>
              <a:buChar char="●"/>
            </a:pPr>
            <a:endParaRPr sz="3600" dirty="0">
              <a:solidFill>
                <a:schemeClr val="dk1"/>
              </a:solidFill>
              <a:latin typeface="Times New Roman"/>
              <a:ea typeface="Times New Roman"/>
              <a:cs typeface="Times New Roman"/>
              <a:sym typeface="Times New Roman"/>
            </a:endParaRPr>
          </a:p>
          <a:p>
            <a:pPr marL="457200" lvl="0" indent="-457200" algn="just" rtl="0">
              <a:lnSpc>
                <a:spcPct val="115000"/>
              </a:lnSpc>
              <a:spcBef>
                <a:spcPts val="0"/>
              </a:spcBef>
              <a:spcAft>
                <a:spcPts val="0"/>
              </a:spcAft>
              <a:buSzPts val="3600"/>
              <a:buChar char="●"/>
            </a:pPr>
            <a:r>
              <a:rPr lang="en-US" sz="3600" b="1" dirty="0">
                <a:solidFill>
                  <a:schemeClr val="dk1"/>
                </a:solidFill>
                <a:latin typeface="Times New Roman"/>
                <a:ea typeface="Times New Roman"/>
                <a:cs typeface="Times New Roman"/>
                <a:sym typeface="Times New Roman"/>
              </a:rPr>
              <a:t>Figma</a:t>
            </a:r>
            <a:r>
              <a:rPr lang="en-US" sz="3600" dirty="0">
                <a:solidFill>
                  <a:schemeClr val="dk1"/>
                </a:solidFill>
                <a:latin typeface="Times New Roman"/>
                <a:ea typeface="Times New Roman"/>
                <a:cs typeface="Times New Roman"/>
                <a:sym typeface="Times New Roman"/>
              </a:rPr>
              <a:t> – UI/UX design and prototyping.</a:t>
            </a:r>
            <a:br>
              <a:rPr lang="en-US" sz="3600" dirty="0">
                <a:solidFill>
                  <a:schemeClr val="dk1"/>
                </a:solidFill>
                <a:latin typeface="Times New Roman"/>
                <a:ea typeface="Times New Roman"/>
                <a:cs typeface="Times New Roman"/>
                <a:sym typeface="Times New Roman"/>
              </a:rPr>
            </a:br>
            <a:endParaRPr sz="3600" dirty="0">
              <a:solidFill>
                <a:schemeClr val="dk1"/>
              </a:solidFill>
              <a:latin typeface="Times New Roman"/>
              <a:ea typeface="Times New Roman"/>
              <a:cs typeface="Times New Roman"/>
              <a:sym typeface="Times New Roman"/>
            </a:endParaRPr>
          </a:p>
          <a:p>
            <a:pPr marL="0" marR="0" lvl="0" indent="0" algn="l" rtl="0">
              <a:lnSpc>
                <a:spcPct val="105077"/>
              </a:lnSpc>
              <a:spcBef>
                <a:spcPts val="1200"/>
              </a:spcBef>
              <a:spcAft>
                <a:spcPts val="0"/>
              </a:spcAft>
              <a:buNone/>
            </a:pPr>
            <a:r>
              <a:rPr lang="en-US" sz="5830" b="1" dirty="0">
                <a:solidFill>
                  <a:srgbClr val="538CD5"/>
                </a:solidFill>
                <a:latin typeface="Calibri"/>
                <a:ea typeface="Calibri"/>
                <a:cs typeface="Calibri"/>
                <a:sym typeface="Calibri"/>
              </a:rPr>
              <a:t>    </a:t>
            </a:r>
            <a:endParaRPr sz="5830" b="1" dirty="0">
              <a:solidFill>
                <a:srgbClr val="538CD5"/>
              </a:solidFill>
              <a:latin typeface="Calibri"/>
              <a:ea typeface="Calibri"/>
              <a:cs typeface="Calibri"/>
              <a:sym typeface="Calibri"/>
            </a:endParaRPr>
          </a:p>
          <a:p>
            <a:pPr marL="0" marR="0" lvl="0" indent="0" algn="l" rtl="0">
              <a:lnSpc>
                <a:spcPct val="105077"/>
              </a:lnSpc>
              <a:spcBef>
                <a:spcPts val="0"/>
              </a:spcBef>
              <a:spcAft>
                <a:spcPts val="0"/>
              </a:spcAft>
              <a:buNone/>
            </a:pPr>
            <a:r>
              <a:rPr lang="en-US" sz="5830" b="1" dirty="0">
                <a:solidFill>
                  <a:srgbClr val="538CD5"/>
                </a:solidFill>
                <a:latin typeface="Calibri"/>
                <a:ea typeface="Calibri"/>
                <a:cs typeface="Calibri"/>
                <a:sym typeface="Calibri"/>
              </a:rPr>
              <a:t>               </a:t>
            </a:r>
            <a:endParaRPr dirty="0"/>
          </a:p>
          <a:p>
            <a:pPr marL="0" marR="0" lvl="0" indent="0" algn="l" rtl="0">
              <a:lnSpc>
                <a:spcPct val="105077"/>
              </a:lnSpc>
              <a:spcBef>
                <a:spcPts val="0"/>
              </a:spcBef>
              <a:spcAft>
                <a:spcPts val="0"/>
              </a:spcAft>
              <a:buNone/>
            </a:pPr>
            <a:r>
              <a:rPr lang="en-US" sz="5830" b="1" dirty="0">
                <a:solidFill>
                  <a:srgbClr val="538CD5"/>
                </a:solidFill>
                <a:latin typeface="Calibri"/>
                <a:ea typeface="Calibri"/>
                <a:cs typeface="Calibri"/>
                <a:sym typeface="Calibri"/>
              </a:rPr>
              <a:t>                        </a:t>
            </a:r>
            <a:endParaRPr dirty="0"/>
          </a:p>
          <a:p>
            <a:pPr marL="0" marR="0" lvl="0" indent="0" algn="l" rtl="0">
              <a:lnSpc>
                <a:spcPct val="105005"/>
              </a:lnSpc>
              <a:spcBef>
                <a:spcPts val="0"/>
              </a:spcBef>
              <a:spcAft>
                <a:spcPts val="0"/>
              </a:spcAft>
              <a:buNone/>
            </a:pPr>
            <a:endParaRPr dirty="0"/>
          </a:p>
          <a:p>
            <a:pPr marL="0" marR="0" lvl="0" indent="0" algn="l" rtl="0">
              <a:lnSpc>
                <a:spcPct val="105005"/>
              </a:lnSpc>
              <a:spcBef>
                <a:spcPts val="0"/>
              </a:spcBef>
              <a:spcAft>
                <a:spcPts val="0"/>
              </a:spcAft>
              <a:buNone/>
            </a:pPr>
            <a:endParaRPr sz="5834" b="1" dirty="0">
              <a:solidFill>
                <a:srgbClr val="5271FF"/>
              </a:solidFill>
              <a:latin typeface="Raleway Black"/>
              <a:ea typeface="Raleway Black"/>
              <a:cs typeface="Raleway Black"/>
              <a:sym typeface="Raleway Black"/>
            </a:endParaRPr>
          </a:p>
          <a:p>
            <a:pPr marL="0" marR="0" lvl="0" indent="0" algn="l" rtl="0">
              <a:lnSpc>
                <a:spcPct val="105005"/>
              </a:lnSpc>
              <a:spcBef>
                <a:spcPts val="0"/>
              </a:spcBef>
              <a:spcAft>
                <a:spcPts val="0"/>
              </a:spcAft>
              <a:buNone/>
            </a:pPr>
            <a:endParaRPr sz="5834" b="1" dirty="0">
              <a:solidFill>
                <a:srgbClr val="5271FF"/>
              </a:solidFill>
              <a:latin typeface="Raleway Black"/>
              <a:ea typeface="Raleway Black"/>
              <a:cs typeface="Raleway Black"/>
              <a:sym typeface="Raleway Black"/>
            </a:endParaRPr>
          </a:p>
          <a:p>
            <a:pPr marL="0" marR="0" lvl="0" indent="0" algn="l" rtl="0">
              <a:lnSpc>
                <a:spcPct val="105005"/>
              </a:lnSpc>
              <a:spcBef>
                <a:spcPts val="0"/>
              </a:spcBef>
              <a:spcAft>
                <a:spcPts val="0"/>
              </a:spcAft>
              <a:buNone/>
            </a:pPr>
            <a:endParaRPr sz="5834" b="1" dirty="0">
              <a:solidFill>
                <a:srgbClr val="5271FF"/>
              </a:solidFill>
              <a:latin typeface="Raleway Black"/>
              <a:ea typeface="Raleway Black"/>
              <a:cs typeface="Raleway Black"/>
              <a:sym typeface="Raleway Black"/>
            </a:endParaRPr>
          </a:p>
          <a:p>
            <a:pPr marL="0" marR="0" lvl="0" indent="0" algn="l" rtl="0">
              <a:lnSpc>
                <a:spcPct val="105005"/>
              </a:lnSpc>
              <a:spcBef>
                <a:spcPts val="0"/>
              </a:spcBef>
              <a:spcAft>
                <a:spcPts val="0"/>
              </a:spcAft>
              <a:buNone/>
            </a:pPr>
            <a:endParaRPr sz="5834" b="1" dirty="0">
              <a:solidFill>
                <a:srgbClr val="5271FF"/>
              </a:solidFill>
              <a:latin typeface="Raleway Black"/>
              <a:ea typeface="Raleway Black"/>
              <a:cs typeface="Raleway Black"/>
              <a:sym typeface="Raleway Black"/>
            </a:endParaRPr>
          </a:p>
          <a:p>
            <a:pPr marL="0" marR="0" lvl="0" indent="0" algn="l" rtl="0">
              <a:lnSpc>
                <a:spcPct val="105005"/>
              </a:lnSpc>
              <a:spcBef>
                <a:spcPts val="0"/>
              </a:spcBef>
              <a:spcAft>
                <a:spcPts val="0"/>
              </a:spcAft>
              <a:buNone/>
            </a:pPr>
            <a:endParaRPr sz="5834" b="1" dirty="0">
              <a:solidFill>
                <a:srgbClr val="5271FF"/>
              </a:solidFill>
              <a:latin typeface="Raleway Black"/>
              <a:ea typeface="Raleway Black"/>
              <a:cs typeface="Raleway Black"/>
              <a:sym typeface="Raleway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8"/>
          <p:cNvSpPr txBox="1"/>
          <p:nvPr/>
        </p:nvSpPr>
        <p:spPr>
          <a:xfrm>
            <a:off x="961900" y="422075"/>
            <a:ext cx="3000000" cy="800400"/>
          </a:xfrm>
          <a:prstGeom prst="rect">
            <a:avLst/>
          </a:prstGeom>
          <a:noFill/>
          <a:ln>
            <a:noFill/>
          </a:ln>
        </p:spPr>
        <p:txBody>
          <a:bodyPr spcFirstLastPara="1" wrap="square" lIns="91425" tIns="91425" rIns="91425" bIns="91425" anchor="t" anchorCtr="0">
            <a:spAutoFit/>
          </a:bodyPr>
          <a:lstStyle/>
          <a:p>
            <a:pPr marL="0" lvl="0" indent="0" algn="l" rtl="0">
              <a:lnSpc>
                <a:spcPct val="105005"/>
              </a:lnSpc>
              <a:spcBef>
                <a:spcPts val="0"/>
              </a:spcBef>
              <a:spcAft>
                <a:spcPts val="0"/>
              </a:spcAft>
              <a:buNone/>
            </a:pPr>
            <a:r>
              <a:rPr lang="en-US" sz="4000" b="1">
                <a:solidFill>
                  <a:srgbClr val="538CD5"/>
                </a:solidFill>
                <a:latin typeface="Calibri"/>
                <a:ea typeface="Calibri"/>
                <a:cs typeface="Calibri"/>
                <a:sym typeface="Calibri"/>
              </a:rPr>
              <a:t>Backend:</a:t>
            </a:r>
            <a:endParaRPr sz="4000"/>
          </a:p>
        </p:txBody>
      </p:sp>
      <p:sp>
        <p:nvSpPr>
          <p:cNvPr id="141" name="Google Shape;141;p18"/>
          <p:cNvSpPr txBox="1"/>
          <p:nvPr/>
        </p:nvSpPr>
        <p:spPr>
          <a:xfrm>
            <a:off x="961900" y="1222475"/>
            <a:ext cx="15863100" cy="8850900"/>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0"/>
              </a:spcAft>
              <a:buClr>
                <a:schemeClr val="dk1"/>
              </a:buClr>
              <a:buSzPts val="3600"/>
              <a:buChar char="●"/>
            </a:pPr>
            <a:r>
              <a:rPr lang="en-US" sz="3600" b="1" dirty="0">
                <a:solidFill>
                  <a:schemeClr val="dk1"/>
                </a:solidFill>
              </a:rPr>
              <a:t>Flask </a:t>
            </a:r>
            <a:r>
              <a:rPr lang="en-US" sz="3600" dirty="0">
                <a:solidFill>
                  <a:schemeClr val="dk1"/>
                </a:solidFill>
              </a:rPr>
              <a:t>– Lightweight, high-performance Python web frameworks.</a:t>
            </a:r>
          </a:p>
          <a:p>
            <a:pPr lvl="0" algn="l" rtl="0">
              <a:spcBef>
                <a:spcPts val="0"/>
              </a:spcBef>
              <a:spcAft>
                <a:spcPts val="0"/>
              </a:spcAft>
              <a:buClr>
                <a:schemeClr val="dk1"/>
              </a:buClr>
              <a:buSzPts val="3600"/>
            </a:pPr>
            <a:endParaRPr sz="3600" dirty="0">
              <a:solidFill>
                <a:schemeClr val="dk1"/>
              </a:solidFill>
            </a:endParaRPr>
          </a:p>
          <a:p>
            <a:pPr marL="457200" lvl="0" indent="-457200" algn="l" rtl="0">
              <a:spcBef>
                <a:spcPts val="0"/>
              </a:spcBef>
              <a:spcAft>
                <a:spcPts val="0"/>
              </a:spcAft>
              <a:buClr>
                <a:schemeClr val="dk1"/>
              </a:buClr>
              <a:buSzPts val="3600"/>
              <a:buChar char="●"/>
            </a:pPr>
            <a:r>
              <a:rPr lang="en-US" sz="3600" b="1" dirty="0">
                <a:solidFill>
                  <a:schemeClr val="dk1"/>
                </a:solidFill>
              </a:rPr>
              <a:t>OpenAI API (GPT-4/4o)</a:t>
            </a:r>
            <a:r>
              <a:rPr lang="en-US" sz="3600" dirty="0">
                <a:solidFill>
                  <a:schemeClr val="dk1"/>
                </a:solidFill>
              </a:rPr>
              <a:t> , </a:t>
            </a:r>
            <a:r>
              <a:rPr lang="en-US" sz="3600" b="1" dirty="0">
                <a:solidFill>
                  <a:schemeClr val="dk1"/>
                </a:solidFill>
              </a:rPr>
              <a:t>Gemini API </a:t>
            </a:r>
            <a:r>
              <a:rPr lang="en-US" sz="3600" dirty="0">
                <a:solidFill>
                  <a:schemeClr val="dk1"/>
                </a:solidFill>
              </a:rPr>
              <a:t>– For resume analysis, quiz generation, and mentor interaction.</a:t>
            </a:r>
          </a:p>
          <a:p>
            <a:pPr lvl="0" algn="l" rtl="0">
              <a:spcBef>
                <a:spcPts val="0"/>
              </a:spcBef>
              <a:spcAft>
                <a:spcPts val="0"/>
              </a:spcAft>
              <a:buClr>
                <a:schemeClr val="dk1"/>
              </a:buClr>
              <a:buSzPts val="3600"/>
            </a:pPr>
            <a:endParaRPr sz="3600" dirty="0">
              <a:solidFill>
                <a:schemeClr val="dk1"/>
              </a:solidFill>
            </a:endParaRPr>
          </a:p>
          <a:p>
            <a:pPr marL="457200" lvl="0" indent="-457200" algn="l" rtl="0">
              <a:spcBef>
                <a:spcPts val="0"/>
              </a:spcBef>
              <a:spcAft>
                <a:spcPts val="0"/>
              </a:spcAft>
              <a:buClr>
                <a:schemeClr val="dk1"/>
              </a:buClr>
              <a:buSzPts val="3600"/>
              <a:buChar char="●"/>
            </a:pPr>
            <a:r>
              <a:rPr lang="en-US" sz="3600" b="1" dirty="0">
                <a:solidFill>
                  <a:schemeClr val="dk1"/>
                </a:solidFill>
              </a:rPr>
              <a:t>Spa Cy </a:t>
            </a:r>
            <a:r>
              <a:rPr lang="en-US" sz="3600" dirty="0">
                <a:solidFill>
                  <a:schemeClr val="dk1"/>
                </a:solidFill>
              </a:rPr>
              <a:t>– For NLP-based resume parsing and skill extraction.</a:t>
            </a:r>
          </a:p>
          <a:p>
            <a:pPr lvl="0" algn="l" rtl="0">
              <a:spcBef>
                <a:spcPts val="0"/>
              </a:spcBef>
              <a:spcAft>
                <a:spcPts val="0"/>
              </a:spcAft>
              <a:buClr>
                <a:schemeClr val="dk1"/>
              </a:buClr>
              <a:buSzPts val="3600"/>
            </a:pPr>
            <a:endParaRPr sz="3600" dirty="0">
              <a:solidFill>
                <a:schemeClr val="dk1"/>
              </a:solidFill>
            </a:endParaRPr>
          </a:p>
          <a:p>
            <a:pPr marL="457200" lvl="0" indent="-457200" algn="l" rtl="0">
              <a:spcBef>
                <a:spcPts val="0"/>
              </a:spcBef>
              <a:spcAft>
                <a:spcPts val="0"/>
              </a:spcAft>
              <a:buClr>
                <a:schemeClr val="dk1"/>
              </a:buClr>
              <a:buSzPts val="3600"/>
              <a:buChar char="●"/>
            </a:pPr>
            <a:r>
              <a:rPr lang="en-US" sz="3600" b="1" dirty="0">
                <a:solidFill>
                  <a:schemeClr val="dk1"/>
                </a:solidFill>
              </a:rPr>
              <a:t>Express/ MongoDB</a:t>
            </a:r>
            <a:r>
              <a:rPr lang="en-US" sz="3600" dirty="0">
                <a:solidFill>
                  <a:schemeClr val="dk1"/>
                </a:solidFill>
              </a:rPr>
              <a:t> – Database for user data, XP, and quest logs.</a:t>
            </a:r>
          </a:p>
          <a:p>
            <a:pPr lvl="0" algn="l" rtl="0">
              <a:spcBef>
                <a:spcPts val="0"/>
              </a:spcBef>
              <a:spcAft>
                <a:spcPts val="0"/>
              </a:spcAft>
              <a:buClr>
                <a:schemeClr val="dk1"/>
              </a:buClr>
              <a:buSzPts val="3600"/>
            </a:pPr>
            <a:endParaRPr sz="3600" dirty="0">
              <a:solidFill>
                <a:schemeClr val="dk1"/>
              </a:solidFill>
            </a:endParaRPr>
          </a:p>
          <a:p>
            <a:pPr marL="457200" lvl="0" indent="-457200" algn="l" rtl="0">
              <a:spcBef>
                <a:spcPts val="0"/>
              </a:spcBef>
              <a:spcAft>
                <a:spcPts val="0"/>
              </a:spcAft>
              <a:buClr>
                <a:schemeClr val="dk1"/>
              </a:buClr>
              <a:buSzPts val="3600"/>
              <a:buChar char="●"/>
            </a:pPr>
            <a:r>
              <a:rPr lang="en-US" sz="3600" b="1" dirty="0">
                <a:solidFill>
                  <a:schemeClr val="dk1"/>
                </a:solidFill>
              </a:rPr>
              <a:t>TensorFlow.js / face-api.js</a:t>
            </a:r>
            <a:r>
              <a:rPr lang="en-US" sz="3600" dirty="0">
                <a:solidFill>
                  <a:schemeClr val="dk1"/>
                </a:solidFill>
              </a:rPr>
              <a:t> – For emotion and posture detection during mock interviews.</a:t>
            </a:r>
          </a:p>
          <a:p>
            <a:pPr lvl="0" algn="l" rtl="0">
              <a:spcBef>
                <a:spcPts val="0"/>
              </a:spcBef>
              <a:spcAft>
                <a:spcPts val="0"/>
              </a:spcAft>
              <a:buClr>
                <a:schemeClr val="dk1"/>
              </a:buClr>
              <a:buSzPts val="3600"/>
            </a:pPr>
            <a:endParaRPr sz="3600" dirty="0">
              <a:solidFill>
                <a:schemeClr val="dk1"/>
              </a:solidFill>
            </a:endParaRPr>
          </a:p>
          <a:p>
            <a:pPr marL="457200" lvl="0" indent="-457200" algn="l" rtl="0">
              <a:spcBef>
                <a:spcPts val="0"/>
              </a:spcBef>
              <a:spcAft>
                <a:spcPts val="0"/>
              </a:spcAft>
              <a:buClr>
                <a:schemeClr val="dk1"/>
              </a:buClr>
              <a:buSzPts val="3600"/>
              <a:buChar char="●"/>
            </a:pPr>
            <a:r>
              <a:rPr lang="en-US" sz="3600" b="1" dirty="0">
                <a:solidFill>
                  <a:schemeClr val="dk1"/>
                </a:solidFill>
              </a:rPr>
              <a:t>YouTube / GFG / Coursera APIs</a:t>
            </a:r>
            <a:r>
              <a:rPr lang="en-US" sz="3600" dirty="0">
                <a:solidFill>
                  <a:schemeClr val="dk1"/>
                </a:solidFill>
              </a:rPr>
              <a:t> – For dynamically recommending learning content.</a:t>
            </a:r>
            <a:endParaRPr sz="3600" dirty="0">
              <a:solidFill>
                <a:schemeClr val="dk1"/>
              </a:solidFill>
            </a:endParaRPr>
          </a:p>
          <a:p>
            <a:pPr marL="0" lvl="0" indent="0" algn="l" rtl="0">
              <a:spcBef>
                <a:spcPts val="0"/>
              </a:spcBef>
              <a:spcAft>
                <a:spcPts val="0"/>
              </a:spcAft>
              <a:buNone/>
            </a:pPr>
            <a:endParaRPr sz="3600"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45"/>
        <p:cNvGrpSpPr/>
        <p:nvPr/>
      </p:nvGrpSpPr>
      <p:grpSpPr>
        <a:xfrm>
          <a:off x="0" y="0"/>
          <a:ext cx="0" cy="0"/>
          <a:chOff x="0" y="0"/>
          <a:chExt cx="0" cy="0"/>
        </a:xfrm>
      </p:grpSpPr>
      <p:grpSp>
        <p:nvGrpSpPr>
          <p:cNvPr id="146" name="Google Shape;146;p19"/>
          <p:cNvGrpSpPr/>
          <p:nvPr/>
        </p:nvGrpSpPr>
        <p:grpSpPr>
          <a:xfrm>
            <a:off x="9144000" y="-90108"/>
            <a:ext cx="9144000" cy="10467217"/>
            <a:chOff x="0" y="0"/>
            <a:chExt cx="2408296" cy="2756798"/>
          </a:xfrm>
        </p:grpSpPr>
        <p:sp>
          <p:nvSpPr>
            <p:cNvPr id="147" name="Google Shape;147;p19"/>
            <p:cNvSpPr/>
            <p:nvPr/>
          </p:nvSpPr>
          <p:spPr>
            <a:xfrm>
              <a:off x="0" y="0"/>
              <a:ext cx="2408296" cy="2756798"/>
            </a:xfrm>
            <a:custGeom>
              <a:avLst/>
              <a:gdLst/>
              <a:ahLst/>
              <a:cxnLst/>
              <a:rect l="l" t="t" r="r" b="b"/>
              <a:pathLst>
                <a:path w="2408296" h="2756798" extrusionOk="0">
                  <a:moveTo>
                    <a:pt x="0" y="0"/>
                  </a:moveTo>
                  <a:lnTo>
                    <a:pt x="2408296" y="0"/>
                  </a:lnTo>
                  <a:lnTo>
                    <a:pt x="2408296" y="2756798"/>
                  </a:lnTo>
                  <a:lnTo>
                    <a:pt x="0" y="2756798"/>
                  </a:lnTo>
                  <a:close/>
                </a:path>
              </a:pathLst>
            </a:custGeom>
            <a:gradFill>
              <a:gsLst>
                <a:gs pos="0">
                  <a:srgbClr val="1933A8"/>
                </a:gs>
                <a:gs pos="100000">
                  <a:srgbClr val="5271FF"/>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8" name="Google Shape;148;p19"/>
            <p:cNvSpPr txBox="1"/>
            <p:nvPr/>
          </p:nvSpPr>
          <p:spPr>
            <a:xfrm>
              <a:off x="0" y="9525"/>
              <a:ext cx="2408296" cy="2747273"/>
            </a:xfrm>
            <a:prstGeom prst="rect">
              <a:avLst/>
            </a:prstGeom>
            <a:noFill/>
            <a:ln>
              <a:noFill/>
            </a:ln>
          </p:spPr>
          <p:txBody>
            <a:bodyPr spcFirstLastPara="1" wrap="square" lIns="50800" tIns="50800" rIns="50800" bIns="50800" anchor="ctr" anchorCtr="0">
              <a:noAutofit/>
            </a:bodyPr>
            <a:lstStyle/>
            <a:p>
              <a:pPr marL="0" marR="0" lvl="0" indent="0" algn="ctr" rtl="0">
                <a:lnSpc>
                  <a:spcPct val="84500"/>
                </a:lnSpc>
                <a:spcBef>
                  <a:spcPts val="0"/>
                </a:spcBef>
                <a:spcAft>
                  <a:spcPts val="0"/>
                </a:spcAft>
                <a:buNone/>
              </a:pPr>
              <a:endParaRPr sz="1800">
                <a:solidFill>
                  <a:schemeClr val="dk1"/>
                </a:solidFill>
                <a:latin typeface="Calibri"/>
                <a:ea typeface="Calibri"/>
                <a:cs typeface="Calibri"/>
                <a:sym typeface="Calibri"/>
              </a:endParaRPr>
            </a:p>
          </p:txBody>
        </p:sp>
      </p:grpSp>
      <p:sp>
        <p:nvSpPr>
          <p:cNvPr id="149" name="Google Shape;149;p19"/>
          <p:cNvSpPr/>
          <p:nvPr/>
        </p:nvSpPr>
        <p:spPr>
          <a:xfrm>
            <a:off x="-1798116" y="3946725"/>
            <a:ext cx="9225147" cy="8229600"/>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0" name="Google Shape;150;p19"/>
          <p:cNvSpPr/>
          <p:nvPr/>
        </p:nvSpPr>
        <p:spPr>
          <a:xfrm>
            <a:off x="3174467" y="-880610"/>
            <a:ext cx="9225147" cy="8229600"/>
          </a:xfrm>
          <a:custGeom>
            <a:avLst/>
            <a:gdLst/>
            <a:ahLst/>
            <a:cxnLst/>
            <a:rect l="l" t="t" r="r" b="b"/>
            <a:pathLst>
              <a:path w="9225147" h="8229600" extrusionOk="0">
                <a:moveTo>
                  <a:pt x="0" y="0"/>
                </a:moveTo>
                <a:lnTo>
                  <a:pt x="9225148" y="0"/>
                </a:lnTo>
                <a:lnTo>
                  <a:pt x="9225148"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51" name="Google Shape;151;p19"/>
          <p:cNvGrpSpPr/>
          <p:nvPr/>
        </p:nvGrpSpPr>
        <p:grpSpPr>
          <a:xfrm>
            <a:off x="317632" y="-242476"/>
            <a:ext cx="17104557" cy="9077692"/>
            <a:chOff x="0" y="9525"/>
            <a:chExt cx="6483545" cy="3291017"/>
          </a:xfrm>
        </p:grpSpPr>
        <p:sp>
          <p:nvSpPr>
            <p:cNvPr id="152" name="Google Shape;152;p19"/>
            <p:cNvSpPr/>
            <p:nvPr/>
          </p:nvSpPr>
          <p:spPr>
            <a:xfrm>
              <a:off x="75598" y="368678"/>
              <a:ext cx="6332348" cy="2931864"/>
            </a:xfrm>
            <a:custGeom>
              <a:avLst/>
              <a:gdLst/>
              <a:ahLst/>
              <a:cxnLst/>
              <a:rect l="l" t="t" r="r" b="b"/>
              <a:pathLst>
                <a:path w="6483545" h="3287431" extrusionOk="0">
                  <a:moveTo>
                    <a:pt x="0" y="0"/>
                  </a:moveTo>
                  <a:lnTo>
                    <a:pt x="6483545" y="0"/>
                  </a:lnTo>
                  <a:lnTo>
                    <a:pt x="6483545" y="3287431"/>
                  </a:lnTo>
                  <a:lnTo>
                    <a:pt x="0" y="328743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4000">
                <a:solidFill>
                  <a:schemeClr val="dk1"/>
                </a:solidFill>
                <a:latin typeface="Calibri"/>
                <a:ea typeface="Calibri"/>
                <a:cs typeface="Calibri"/>
                <a:sym typeface="Calibri"/>
              </a:endParaRPr>
            </a:p>
            <a:p>
              <a:pPr marL="0" marR="0" lvl="0" indent="0" algn="l" rtl="0">
                <a:spcBef>
                  <a:spcPts val="0"/>
                </a:spcBef>
                <a:spcAft>
                  <a:spcPts val="0"/>
                </a:spcAft>
                <a:buNone/>
              </a:pPr>
              <a:endParaRPr sz="4000">
                <a:solidFill>
                  <a:schemeClr val="dk1"/>
                </a:solidFill>
                <a:latin typeface="Calibri"/>
                <a:ea typeface="Calibri"/>
                <a:cs typeface="Calibri"/>
                <a:sym typeface="Calibri"/>
              </a:endParaRPr>
            </a:p>
            <a:p>
              <a:pPr marL="0" marR="0" lvl="0" indent="0" algn="l" rtl="0">
                <a:spcBef>
                  <a:spcPts val="0"/>
                </a:spcBef>
                <a:spcAft>
                  <a:spcPts val="0"/>
                </a:spcAft>
                <a:buNone/>
              </a:pPr>
              <a:r>
                <a:rPr lang="en-US" sz="4000">
                  <a:solidFill>
                    <a:schemeClr val="dk1"/>
                  </a:solidFill>
                  <a:latin typeface="Calibri"/>
                  <a:ea typeface="Calibri"/>
                  <a:cs typeface="Calibri"/>
                  <a:sym typeface="Calibri"/>
                </a:rPr>
                <a:t> </a:t>
              </a:r>
              <a:endParaRPr/>
            </a:p>
          </p:txBody>
        </p:sp>
        <p:sp>
          <p:nvSpPr>
            <p:cNvPr id="153" name="Google Shape;153;p19"/>
            <p:cNvSpPr txBox="1"/>
            <p:nvPr/>
          </p:nvSpPr>
          <p:spPr>
            <a:xfrm>
              <a:off x="0" y="9525"/>
              <a:ext cx="6483545" cy="3277906"/>
            </a:xfrm>
            <a:prstGeom prst="rect">
              <a:avLst/>
            </a:prstGeom>
            <a:noFill/>
            <a:ln>
              <a:noFill/>
            </a:ln>
          </p:spPr>
          <p:txBody>
            <a:bodyPr spcFirstLastPara="1" wrap="square" lIns="50800" tIns="50800" rIns="50800" bIns="50800" anchor="ctr" anchorCtr="0">
              <a:noAutofit/>
            </a:bodyPr>
            <a:lstStyle/>
            <a:p>
              <a:pPr marL="0" marR="0" lvl="0" indent="0" algn="ctr" rtl="0">
                <a:lnSpc>
                  <a:spcPct val="84500"/>
                </a:lnSpc>
                <a:spcBef>
                  <a:spcPts val="0"/>
                </a:spcBef>
                <a:spcAft>
                  <a:spcPts val="0"/>
                </a:spcAft>
                <a:buNone/>
              </a:pPr>
              <a:endParaRPr sz="1800">
                <a:solidFill>
                  <a:schemeClr val="dk1"/>
                </a:solidFill>
                <a:latin typeface="Calibri"/>
                <a:ea typeface="Calibri"/>
                <a:cs typeface="Calibri"/>
                <a:sym typeface="Calibri"/>
              </a:endParaRPr>
            </a:p>
          </p:txBody>
        </p:sp>
      </p:grpSp>
      <p:sp>
        <p:nvSpPr>
          <p:cNvPr id="154" name="Google Shape;154;p19"/>
          <p:cNvSpPr txBox="1"/>
          <p:nvPr/>
        </p:nvSpPr>
        <p:spPr>
          <a:xfrm>
            <a:off x="1483557" y="814639"/>
            <a:ext cx="9351353" cy="709361"/>
          </a:xfrm>
          <a:prstGeom prst="rect">
            <a:avLst/>
          </a:prstGeom>
          <a:noFill/>
          <a:ln>
            <a:noFill/>
          </a:ln>
        </p:spPr>
        <p:txBody>
          <a:bodyPr spcFirstLastPara="1" wrap="square" lIns="0" tIns="0" rIns="0" bIns="0" anchor="t" anchorCtr="0">
            <a:spAutoFit/>
          </a:bodyPr>
          <a:lstStyle/>
          <a:p>
            <a:pPr marL="0" marR="0" lvl="0" indent="0" algn="l" rtl="0">
              <a:lnSpc>
                <a:spcPct val="153150"/>
              </a:lnSpc>
              <a:spcBef>
                <a:spcPts val="0"/>
              </a:spcBef>
              <a:spcAft>
                <a:spcPts val="0"/>
              </a:spcAft>
              <a:buNone/>
            </a:pPr>
            <a:r>
              <a:rPr lang="en-US" sz="4000" b="1">
                <a:solidFill>
                  <a:srgbClr val="5271FF"/>
                </a:solidFill>
                <a:latin typeface="Raleway Black"/>
                <a:ea typeface="Raleway Black"/>
                <a:cs typeface="Raleway Black"/>
                <a:sym typeface="Raleway Black"/>
              </a:rPr>
              <a:t>Gen AI Tool Utilization</a:t>
            </a:r>
            <a:endParaRPr/>
          </a:p>
        </p:txBody>
      </p:sp>
      <p:sp>
        <p:nvSpPr>
          <p:cNvPr id="155" name="Google Shape;155;p19"/>
          <p:cNvSpPr/>
          <p:nvPr/>
        </p:nvSpPr>
        <p:spPr>
          <a:xfrm rot="10800000">
            <a:off x="15905073" y="56217"/>
            <a:ext cx="2087066" cy="2226204"/>
          </a:xfrm>
          <a:custGeom>
            <a:avLst/>
            <a:gdLst/>
            <a:ahLst/>
            <a:cxnLst/>
            <a:rect l="l" t="t" r="r" b="b"/>
            <a:pathLst>
              <a:path w="2087066" h="2226204" extrusionOk="0">
                <a:moveTo>
                  <a:pt x="0" y="0"/>
                </a:moveTo>
                <a:lnTo>
                  <a:pt x="2087066" y="0"/>
                </a:lnTo>
                <a:lnTo>
                  <a:pt x="2087066" y="2226204"/>
                </a:lnTo>
                <a:lnTo>
                  <a:pt x="0" y="222620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6" name="Google Shape;156;p19"/>
          <p:cNvSpPr txBox="1"/>
          <p:nvPr/>
        </p:nvSpPr>
        <p:spPr>
          <a:xfrm>
            <a:off x="2604525" y="1915860"/>
            <a:ext cx="100476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chemeClr val="dk1"/>
                </a:solidFill>
                <a:latin typeface="Calibri"/>
                <a:ea typeface="Calibri"/>
                <a:cs typeface="Calibri"/>
                <a:sym typeface="Calibri"/>
              </a:rPr>
              <a:t> </a:t>
            </a:r>
            <a:r>
              <a:rPr lang="en-US" sz="3600">
                <a:solidFill>
                  <a:schemeClr val="dk1"/>
                </a:solidFill>
                <a:latin typeface="Calibri"/>
                <a:ea typeface="Calibri"/>
                <a:cs typeface="Calibri"/>
                <a:sym typeface="Calibri"/>
              </a:rPr>
              <a:t>AI Resume Parsing And Skill Inference</a:t>
            </a:r>
            <a:r>
              <a:rPr lang="en-US" sz="4000">
                <a:solidFill>
                  <a:schemeClr val="dk1"/>
                </a:solidFill>
                <a:latin typeface="Calibri"/>
                <a:ea typeface="Calibri"/>
                <a:cs typeface="Calibri"/>
                <a:sym typeface="Calibri"/>
              </a:rPr>
              <a:t> </a:t>
            </a:r>
            <a:endParaRPr/>
          </a:p>
        </p:txBody>
      </p:sp>
      <p:sp>
        <p:nvSpPr>
          <p:cNvPr id="157" name="Google Shape;157;p19"/>
          <p:cNvSpPr/>
          <p:nvPr/>
        </p:nvSpPr>
        <p:spPr>
          <a:xfrm>
            <a:off x="1746098" y="2003299"/>
            <a:ext cx="483247" cy="457200"/>
          </a:xfrm>
          <a:prstGeom prst="star5">
            <a:avLst>
              <a:gd name="adj" fmla="val 19098"/>
              <a:gd name="hf" fmla="val 105146"/>
              <a:gd name="vf" fmla="val 110557"/>
            </a:avLst>
          </a:prstGeom>
          <a:solidFill>
            <a:schemeClr val="accen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 name="Google Shape;158;p19"/>
          <p:cNvSpPr/>
          <p:nvPr/>
        </p:nvSpPr>
        <p:spPr>
          <a:xfrm>
            <a:off x="1746098" y="2939916"/>
            <a:ext cx="483247" cy="456964"/>
          </a:xfrm>
          <a:prstGeom prst="star5">
            <a:avLst>
              <a:gd name="adj" fmla="val 19098"/>
              <a:gd name="hf" fmla="val 105146"/>
              <a:gd name="vf" fmla="val 110557"/>
            </a:avLst>
          </a:prstGeom>
          <a:solidFill>
            <a:schemeClr val="accen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 name="Google Shape;159;p19"/>
          <p:cNvSpPr/>
          <p:nvPr/>
        </p:nvSpPr>
        <p:spPr>
          <a:xfrm>
            <a:off x="1746098" y="3876179"/>
            <a:ext cx="495303" cy="457200"/>
          </a:xfrm>
          <a:prstGeom prst="star5">
            <a:avLst>
              <a:gd name="adj" fmla="val 19098"/>
              <a:gd name="hf" fmla="val 105146"/>
              <a:gd name="vf" fmla="val 110557"/>
            </a:avLst>
          </a:prstGeom>
          <a:solidFill>
            <a:schemeClr val="accen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0" name="Google Shape;160;p19"/>
          <p:cNvSpPr/>
          <p:nvPr/>
        </p:nvSpPr>
        <p:spPr>
          <a:xfrm>
            <a:off x="1690209" y="4801904"/>
            <a:ext cx="551192" cy="457201"/>
          </a:xfrm>
          <a:prstGeom prst="star5">
            <a:avLst>
              <a:gd name="adj" fmla="val 19098"/>
              <a:gd name="hf" fmla="val 105146"/>
              <a:gd name="vf" fmla="val 110557"/>
            </a:avLst>
          </a:prstGeom>
          <a:solidFill>
            <a:schemeClr val="accen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 name="Google Shape;161;p19"/>
          <p:cNvSpPr/>
          <p:nvPr/>
        </p:nvSpPr>
        <p:spPr>
          <a:xfrm>
            <a:off x="1746098" y="5658097"/>
            <a:ext cx="495303" cy="457200"/>
          </a:xfrm>
          <a:prstGeom prst="star5">
            <a:avLst>
              <a:gd name="adj" fmla="val 19098"/>
              <a:gd name="hf" fmla="val 105146"/>
              <a:gd name="vf" fmla="val 110557"/>
            </a:avLst>
          </a:prstGeom>
          <a:solidFill>
            <a:schemeClr val="accen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 name="Google Shape;162;p19"/>
          <p:cNvSpPr/>
          <p:nvPr/>
        </p:nvSpPr>
        <p:spPr>
          <a:xfrm>
            <a:off x="1734042" y="6509848"/>
            <a:ext cx="495303" cy="457200"/>
          </a:xfrm>
          <a:prstGeom prst="star5">
            <a:avLst>
              <a:gd name="adj" fmla="val 19098"/>
              <a:gd name="hf" fmla="val 105146"/>
              <a:gd name="vf" fmla="val 110557"/>
            </a:avLst>
          </a:prstGeom>
          <a:solidFill>
            <a:schemeClr val="accen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 name="Google Shape;163;p19"/>
          <p:cNvSpPr/>
          <p:nvPr/>
        </p:nvSpPr>
        <p:spPr>
          <a:xfrm>
            <a:off x="1718153" y="7484423"/>
            <a:ext cx="495303" cy="457200"/>
          </a:xfrm>
          <a:prstGeom prst="star5">
            <a:avLst>
              <a:gd name="adj" fmla="val 19098"/>
              <a:gd name="hf" fmla="val 105146"/>
              <a:gd name="vf" fmla="val 110557"/>
            </a:avLst>
          </a:prstGeom>
          <a:solidFill>
            <a:schemeClr val="accen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 name="Google Shape;164;p19"/>
          <p:cNvSpPr txBox="1"/>
          <p:nvPr/>
        </p:nvSpPr>
        <p:spPr>
          <a:xfrm>
            <a:off x="2635893" y="2805506"/>
            <a:ext cx="10673442"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dk1"/>
                </a:solidFill>
                <a:latin typeface="Calibri"/>
                <a:ea typeface="Calibri"/>
                <a:cs typeface="Calibri"/>
                <a:sym typeface="Calibri"/>
              </a:rPr>
              <a:t> Adaptive Quiz Generator</a:t>
            </a:r>
            <a:r>
              <a:rPr lang="en-US" sz="4000">
                <a:solidFill>
                  <a:schemeClr val="dk1"/>
                </a:solidFill>
                <a:latin typeface="Calibri"/>
                <a:ea typeface="Calibri"/>
                <a:cs typeface="Calibri"/>
                <a:sym typeface="Calibri"/>
              </a:rPr>
              <a:t> </a:t>
            </a:r>
            <a:endParaRPr/>
          </a:p>
        </p:txBody>
      </p:sp>
      <p:sp>
        <p:nvSpPr>
          <p:cNvPr id="165" name="Google Shape;165;p19"/>
          <p:cNvSpPr txBox="1"/>
          <p:nvPr/>
        </p:nvSpPr>
        <p:spPr>
          <a:xfrm>
            <a:off x="2635893" y="3787944"/>
            <a:ext cx="10047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dk1"/>
                </a:solidFill>
                <a:latin typeface="Calibri"/>
                <a:ea typeface="Calibri"/>
                <a:cs typeface="Calibri"/>
                <a:sym typeface="Calibri"/>
              </a:rPr>
              <a:t> Personalized Learning Roadmap via GenAI </a:t>
            </a:r>
            <a:endParaRPr sz="3600">
              <a:solidFill>
                <a:schemeClr val="dk1"/>
              </a:solidFill>
              <a:latin typeface="Calibri"/>
              <a:ea typeface="Calibri"/>
              <a:cs typeface="Calibri"/>
              <a:sym typeface="Calibri"/>
            </a:endParaRPr>
          </a:p>
        </p:txBody>
      </p:sp>
      <p:sp>
        <p:nvSpPr>
          <p:cNvPr id="166" name="Google Shape;166;p19"/>
          <p:cNvSpPr txBox="1"/>
          <p:nvPr/>
        </p:nvSpPr>
        <p:spPr>
          <a:xfrm>
            <a:off x="2635893" y="4722541"/>
            <a:ext cx="1036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dk1"/>
                </a:solidFill>
                <a:latin typeface="Calibri"/>
                <a:ea typeface="Calibri"/>
                <a:cs typeface="Calibri"/>
                <a:sym typeface="Calibri"/>
              </a:rPr>
              <a:t> Soft Skill Interview Trainer (Avatar + AI Brain)</a:t>
            </a:r>
            <a:endParaRPr sz="3600">
              <a:solidFill>
                <a:schemeClr val="dk1"/>
              </a:solidFill>
              <a:latin typeface="Calibri"/>
              <a:ea typeface="Calibri"/>
              <a:cs typeface="Calibri"/>
              <a:sym typeface="Calibri"/>
            </a:endParaRPr>
          </a:p>
        </p:txBody>
      </p:sp>
      <p:sp>
        <p:nvSpPr>
          <p:cNvPr id="167" name="Google Shape;167;p19"/>
          <p:cNvSpPr txBox="1"/>
          <p:nvPr/>
        </p:nvSpPr>
        <p:spPr>
          <a:xfrm>
            <a:off x="2604525" y="5560825"/>
            <a:ext cx="101115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dk1"/>
                </a:solidFill>
                <a:latin typeface="Calibri"/>
                <a:ea typeface="Calibri"/>
                <a:cs typeface="Calibri"/>
                <a:sym typeface="Calibri"/>
              </a:rPr>
              <a:t> Gamified UX with AI-Driven Progress </a:t>
            </a:r>
            <a:endParaRPr sz="3600">
              <a:solidFill>
                <a:schemeClr val="dk1"/>
              </a:solidFill>
              <a:latin typeface="Calibri"/>
              <a:ea typeface="Calibri"/>
              <a:cs typeface="Calibri"/>
              <a:sym typeface="Calibri"/>
            </a:endParaRPr>
          </a:p>
        </p:txBody>
      </p:sp>
      <p:sp>
        <p:nvSpPr>
          <p:cNvPr id="168" name="Google Shape;168;p19"/>
          <p:cNvSpPr txBox="1"/>
          <p:nvPr/>
        </p:nvSpPr>
        <p:spPr>
          <a:xfrm>
            <a:off x="2695725" y="6421075"/>
            <a:ext cx="106734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dk1"/>
                </a:solidFill>
                <a:latin typeface="Calibri"/>
                <a:ea typeface="Calibri"/>
                <a:cs typeface="Calibri"/>
                <a:sym typeface="Calibri"/>
              </a:rPr>
              <a:t>Skill gap analysis</a:t>
            </a:r>
            <a:endParaRPr sz="3600"/>
          </a:p>
        </p:txBody>
      </p:sp>
      <p:sp>
        <p:nvSpPr>
          <p:cNvPr id="169" name="Google Shape;169;p19"/>
          <p:cNvSpPr txBox="1"/>
          <p:nvPr/>
        </p:nvSpPr>
        <p:spPr>
          <a:xfrm>
            <a:off x="2533150" y="7328125"/>
            <a:ext cx="106734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dk1"/>
                </a:solidFill>
                <a:latin typeface="Calibri"/>
                <a:ea typeface="Calibri"/>
                <a:cs typeface="Calibri"/>
                <a:sym typeface="Calibri"/>
              </a:rPr>
              <a:t>  Chatbot</a:t>
            </a:r>
            <a:endParaRPr sz="3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0"/>
          <p:cNvSpPr/>
          <p:nvPr/>
        </p:nvSpPr>
        <p:spPr>
          <a:xfrm>
            <a:off x="-1347061" y="7725054"/>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5" name="Google Shape;175;p20"/>
          <p:cNvSpPr/>
          <p:nvPr/>
        </p:nvSpPr>
        <p:spPr>
          <a:xfrm>
            <a:off x="13675426" y="7725054"/>
            <a:ext cx="9225147" cy="8229600"/>
          </a:xfrm>
          <a:custGeom>
            <a:avLst/>
            <a:gdLst/>
            <a:ahLst/>
            <a:cxnLst/>
            <a:rect l="l" t="t" r="r" b="b"/>
            <a:pathLst>
              <a:path w="9225147" h="8229600" extrusionOk="0">
                <a:moveTo>
                  <a:pt x="0" y="0"/>
                </a:moveTo>
                <a:lnTo>
                  <a:pt x="9225148" y="0"/>
                </a:lnTo>
                <a:lnTo>
                  <a:pt x="9225148" y="8229600"/>
                </a:lnTo>
                <a:lnTo>
                  <a:pt x="0" y="822960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6" name="Google Shape;176;p20"/>
          <p:cNvSpPr txBox="1"/>
          <p:nvPr/>
        </p:nvSpPr>
        <p:spPr>
          <a:xfrm>
            <a:off x="396239" y="419100"/>
            <a:ext cx="14767561" cy="709361"/>
          </a:xfrm>
          <a:prstGeom prst="rect">
            <a:avLst/>
          </a:prstGeom>
          <a:noFill/>
          <a:ln>
            <a:noFill/>
          </a:ln>
        </p:spPr>
        <p:txBody>
          <a:bodyPr spcFirstLastPara="1" wrap="square" lIns="0" tIns="0" rIns="0" bIns="0" anchor="t" anchorCtr="0">
            <a:spAutoFit/>
          </a:bodyPr>
          <a:lstStyle/>
          <a:p>
            <a:pPr marL="0" marR="0" lvl="0" indent="0" algn="l" rtl="0">
              <a:lnSpc>
                <a:spcPct val="153150"/>
              </a:lnSpc>
              <a:spcBef>
                <a:spcPts val="0"/>
              </a:spcBef>
              <a:spcAft>
                <a:spcPts val="0"/>
              </a:spcAft>
              <a:buNone/>
            </a:pPr>
            <a:r>
              <a:rPr lang="en-US" sz="4000" b="1">
                <a:solidFill>
                  <a:srgbClr val="5271FF"/>
                </a:solidFill>
                <a:latin typeface="Raleway Black"/>
                <a:ea typeface="Raleway Black"/>
                <a:cs typeface="Raleway Black"/>
                <a:sym typeface="Raleway Black"/>
              </a:rPr>
              <a:t>System Architecture, Functionalities and Design Diagram</a:t>
            </a:r>
            <a:endParaRPr/>
          </a:p>
        </p:txBody>
      </p:sp>
      <p:sp>
        <p:nvSpPr>
          <p:cNvPr id="177" name="Google Shape;177;p20"/>
          <p:cNvSpPr txBox="1"/>
          <p:nvPr/>
        </p:nvSpPr>
        <p:spPr>
          <a:xfrm>
            <a:off x="685800" y="2309326"/>
            <a:ext cx="14173200" cy="215400"/>
          </a:xfrm>
          <a:prstGeom prst="rect">
            <a:avLst/>
          </a:prstGeom>
          <a:noFill/>
          <a:ln>
            <a:noFill/>
          </a:ln>
        </p:spPr>
        <p:txBody>
          <a:bodyPr spcFirstLastPara="1" wrap="square" lIns="0" tIns="0" rIns="0" bIns="0" anchor="t" anchorCtr="0">
            <a:spAutoFit/>
          </a:bodyPr>
          <a:lstStyle/>
          <a:p>
            <a:pPr marL="457200" marR="0" lvl="0" indent="0" algn="l" rtl="0">
              <a:spcBef>
                <a:spcPts val="0"/>
              </a:spcBef>
              <a:spcAft>
                <a:spcPts val="0"/>
              </a:spcAft>
              <a:buNone/>
            </a:pPr>
            <a:endParaRPr/>
          </a:p>
        </p:txBody>
      </p:sp>
      <p:pic>
        <p:nvPicPr>
          <p:cNvPr id="4" name="Picture 3">
            <a:extLst>
              <a:ext uri="{FF2B5EF4-FFF2-40B4-BE49-F238E27FC236}">
                <a16:creationId xmlns:a16="http://schemas.microsoft.com/office/drawing/2014/main" id="{60C46728-3583-23CC-E9A6-5567C8AACF6A}"/>
              </a:ext>
            </a:extLst>
          </p:cNvPr>
          <p:cNvPicPr>
            <a:picLocks noChangeAspect="1"/>
          </p:cNvPicPr>
          <p:nvPr/>
        </p:nvPicPr>
        <p:blipFill>
          <a:blip r:embed="rId5"/>
          <a:stretch>
            <a:fillRect/>
          </a:stretch>
        </p:blipFill>
        <p:spPr>
          <a:xfrm>
            <a:off x="4612575" y="1430510"/>
            <a:ext cx="8667995" cy="84373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82"/>
        <p:cNvGrpSpPr/>
        <p:nvPr/>
      </p:nvGrpSpPr>
      <p:grpSpPr>
        <a:xfrm>
          <a:off x="0" y="0"/>
          <a:ext cx="0" cy="0"/>
          <a:chOff x="0" y="0"/>
          <a:chExt cx="0" cy="0"/>
        </a:xfrm>
      </p:grpSpPr>
      <p:sp>
        <p:nvSpPr>
          <p:cNvPr id="183" name="Google Shape;183;p21"/>
          <p:cNvSpPr/>
          <p:nvPr/>
        </p:nvSpPr>
        <p:spPr>
          <a:xfrm>
            <a:off x="-1347061" y="7725054"/>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21"/>
          <p:cNvSpPr txBox="1"/>
          <p:nvPr/>
        </p:nvSpPr>
        <p:spPr>
          <a:xfrm>
            <a:off x="914400" y="486359"/>
            <a:ext cx="15224400" cy="7099800"/>
          </a:xfrm>
          <a:prstGeom prst="rect">
            <a:avLst/>
          </a:prstGeom>
          <a:noFill/>
          <a:ln>
            <a:noFill/>
          </a:ln>
        </p:spPr>
        <p:txBody>
          <a:bodyPr spcFirstLastPara="1" wrap="square" lIns="0" tIns="0" rIns="0" bIns="0" anchor="t" anchorCtr="0">
            <a:spAutoFit/>
          </a:bodyPr>
          <a:lstStyle/>
          <a:p>
            <a:pPr marL="0" marR="0" lvl="0" indent="0" algn="l" rtl="0">
              <a:lnSpc>
                <a:spcPct val="153150"/>
              </a:lnSpc>
              <a:spcBef>
                <a:spcPts val="0"/>
              </a:spcBef>
              <a:spcAft>
                <a:spcPts val="0"/>
              </a:spcAft>
              <a:buNone/>
            </a:pPr>
            <a:r>
              <a:rPr lang="en-US" sz="4000" b="1" dirty="0">
                <a:solidFill>
                  <a:srgbClr val="5271FF"/>
                </a:solidFill>
                <a:latin typeface="Raleway Black"/>
                <a:ea typeface="Raleway Black"/>
                <a:cs typeface="Raleway Black"/>
                <a:sym typeface="Raleway Black"/>
              </a:rPr>
              <a:t>Solution Alignment with Hexaware Objective</a:t>
            </a:r>
            <a:endParaRPr sz="4000" dirty="0"/>
          </a:p>
          <a:p>
            <a:pPr marL="0" marR="0" lvl="0" indent="0" algn="just" rtl="0">
              <a:lnSpc>
                <a:spcPct val="100000"/>
              </a:lnSpc>
              <a:spcBef>
                <a:spcPts val="0"/>
              </a:spcBef>
              <a:spcAft>
                <a:spcPts val="0"/>
              </a:spcAft>
              <a:buNone/>
            </a:pPr>
            <a:r>
              <a:rPr lang="en-US" sz="3600" dirty="0" err="1">
                <a:solidFill>
                  <a:schemeClr val="dk1"/>
                </a:solidFill>
                <a:latin typeface="Calibri"/>
                <a:ea typeface="Calibri"/>
                <a:cs typeface="Calibri"/>
                <a:sym typeface="Calibri"/>
              </a:rPr>
              <a:t>SkillArise</a:t>
            </a:r>
            <a:r>
              <a:rPr lang="en-US" sz="3600" dirty="0">
                <a:solidFill>
                  <a:schemeClr val="dk1"/>
                </a:solidFill>
                <a:latin typeface="Calibri"/>
                <a:ea typeface="Calibri"/>
                <a:cs typeface="Calibri"/>
                <a:sym typeface="Calibri"/>
              </a:rPr>
              <a:t> aligns seamlessly with Hexaware objective of delivering personalized, AI-driven learning experiences that go beyond generic training models. Just as Hexaware proposes using intelligent agents (Profile, Assessment, Recommender, Tracker) to identify and close skill gaps, </a:t>
            </a:r>
            <a:r>
              <a:rPr lang="en-US" sz="3600" dirty="0" err="1">
                <a:solidFill>
                  <a:schemeClr val="dk1"/>
                </a:solidFill>
                <a:latin typeface="Calibri"/>
                <a:ea typeface="Calibri"/>
                <a:cs typeface="Calibri"/>
                <a:sym typeface="Calibri"/>
              </a:rPr>
              <a:t>SkillArise</a:t>
            </a:r>
            <a:r>
              <a:rPr lang="en-US" sz="3600" dirty="0">
                <a:solidFill>
                  <a:schemeClr val="dk1"/>
                </a:solidFill>
                <a:latin typeface="Calibri"/>
                <a:ea typeface="Calibri"/>
                <a:cs typeface="Calibri"/>
                <a:sym typeface="Calibri"/>
              </a:rPr>
              <a:t> uses AI resume parsing, adaptive quizzes, and personalized roadmaps to evaluate current skills, identify gaps, and guide learners effectively.</a:t>
            </a:r>
            <a:endParaRPr sz="3600" dirty="0"/>
          </a:p>
          <a:p>
            <a:pPr marL="0" marR="0" lvl="0" indent="0" algn="just" rtl="0">
              <a:lnSpc>
                <a:spcPct val="100000"/>
              </a:lnSpc>
              <a:spcBef>
                <a:spcPts val="0"/>
              </a:spcBef>
              <a:spcAft>
                <a:spcPts val="0"/>
              </a:spcAft>
              <a:buNone/>
            </a:pPr>
            <a:r>
              <a:rPr lang="en-US" sz="3600" dirty="0">
                <a:solidFill>
                  <a:schemeClr val="dk1"/>
                </a:solidFill>
                <a:latin typeface="Calibri"/>
                <a:ea typeface="Calibri"/>
                <a:cs typeface="Calibri"/>
                <a:sym typeface="Calibri"/>
              </a:rPr>
              <a:t>Both solutions focus on increasing engagement, efficiency, and targeted upskilling. </a:t>
            </a:r>
            <a:r>
              <a:rPr lang="en-US" sz="3600" dirty="0" err="1">
                <a:solidFill>
                  <a:schemeClr val="dk1"/>
                </a:solidFill>
                <a:latin typeface="Calibri"/>
                <a:ea typeface="Calibri"/>
                <a:cs typeface="Calibri"/>
                <a:sym typeface="Calibri"/>
              </a:rPr>
              <a:t>SkillArise</a:t>
            </a:r>
            <a:r>
              <a:rPr lang="en-US" sz="3600" dirty="0">
                <a:solidFill>
                  <a:schemeClr val="dk1"/>
                </a:solidFill>
                <a:latin typeface="Calibri"/>
                <a:ea typeface="Calibri"/>
                <a:cs typeface="Calibri"/>
                <a:sym typeface="Calibri"/>
              </a:rPr>
              <a:t> also extends Hexaware’s vision with AR-based soft skills mentoring and gamified progress tracking, enhancing employee development through immersive and personalized digital learning journeys.</a:t>
            </a:r>
            <a:endParaRPr sz="3600" b="1" dirty="0">
              <a:solidFill>
                <a:srgbClr val="5271FF"/>
              </a:solidFill>
              <a:latin typeface="Calibri"/>
              <a:ea typeface="Calibri"/>
              <a:cs typeface="Calibri"/>
              <a:sym typeface="Calibri"/>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p:txBody>
      </p:sp>
      <p:sp>
        <p:nvSpPr>
          <p:cNvPr id="185" name="Google Shape;185;p21"/>
          <p:cNvSpPr/>
          <p:nvPr/>
        </p:nvSpPr>
        <p:spPr>
          <a:xfrm>
            <a:off x="13675426" y="7725054"/>
            <a:ext cx="9225147" cy="8229600"/>
          </a:xfrm>
          <a:custGeom>
            <a:avLst/>
            <a:gdLst/>
            <a:ahLst/>
            <a:cxnLst/>
            <a:rect l="l" t="t" r="r" b="b"/>
            <a:pathLst>
              <a:path w="9225147" h="8229600" extrusionOk="0">
                <a:moveTo>
                  <a:pt x="0" y="0"/>
                </a:moveTo>
                <a:lnTo>
                  <a:pt x="9225148" y="0"/>
                </a:lnTo>
                <a:lnTo>
                  <a:pt x="9225148" y="8229600"/>
                </a:lnTo>
                <a:lnTo>
                  <a:pt x="0" y="822960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89"/>
        <p:cNvGrpSpPr/>
        <p:nvPr/>
      </p:nvGrpSpPr>
      <p:grpSpPr>
        <a:xfrm>
          <a:off x="0" y="0"/>
          <a:ext cx="0" cy="0"/>
          <a:chOff x="0" y="0"/>
          <a:chExt cx="0" cy="0"/>
        </a:xfrm>
      </p:grpSpPr>
      <p:grpSp>
        <p:nvGrpSpPr>
          <p:cNvPr id="190" name="Google Shape;190;p22"/>
          <p:cNvGrpSpPr/>
          <p:nvPr/>
        </p:nvGrpSpPr>
        <p:grpSpPr>
          <a:xfrm>
            <a:off x="0" y="-90107"/>
            <a:ext cx="18488226" cy="1499788"/>
            <a:chOff x="0" y="0"/>
            <a:chExt cx="4869295" cy="959926"/>
          </a:xfrm>
        </p:grpSpPr>
        <p:sp>
          <p:nvSpPr>
            <p:cNvPr id="191" name="Google Shape;191;p22"/>
            <p:cNvSpPr/>
            <p:nvPr/>
          </p:nvSpPr>
          <p:spPr>
            <a:xfrm>
              <a:off x="0" y="0"/>
              <a:ext cx="4869295" cy="959926"/>
            </a:xfrm>
            <a:custGeom>
              <a:avLst/>
              <a:gdLst/>
              <a:ahLst/>
              <a:cxnLst/>
              <a:rect l="l" t="t" r="r" b="b"/>
              <a:pathLst>
                <a:path w="4869295" h="959926" extrusionOk="0">
                  <a:moveTo>
                    <a:pt x="0" y="0"/>
                  </a:moveTo>
                  <a:lnTo>
                    <a:pt x="4869295" y="0"/>
                  </a:lnTo>
                  <a:lnTo>
                    <a:pt x="4869295" y="959926"/>
                  </a:lnTo>
                  <a:lnTo>
                    <a:pt x="0" y="959926"/>
                  </a:lnTo>
                  <a:close/>
                </a:path>
              </a:pathLst>
            </a:custGeom>
            <a:gradFill>
              <a:gsLst>
                <a:gs pos="0">
                  <a:srgbClr val="1933A8"/>
                </a:gs>
                <a:gs pos="100000">
                  <a:srgbClr val="5271FF"/>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22"/>
            <p:cNvSpPr txBox="1"/>
            <p:nvPr/>
          </p:nvSpPr>
          <p:spPr>
            <a:xfrm>
              <a:off x="0" y="9525"/>
              <a:ext cx="4869295" cy="950401"/>
            </a:xfrm>
            <a:prstGeom prst="rect">
              <a:avLst/>
            </a:prstGeom>
            <a:noFill/>
            <a:ln>
              <a:noFill/>
            </a:ln>
          </p:spPr>
          <p:txBody>
            <a:bodyPr spcFirstLastPara="1" wrap="square" lIns="50800" tIns="50800" rIns="50800" bIns="50800" anchor="ctr" anchorCtr="0">
              <a:noAutofit/>
            </a:bodyPr>
            <a:lstStyle/>
            <a:p>
              <a:pPr marL="0" marR="0" lvl="0" indent="0" algn="ctr" rtl="0">
                <a:lnSpc>
                  <a:spcPct val="84500"/>
                </a:lnSpc>
                <a:spcBef>
                  <a:spcPts val="0"/>
                </a:spcBef>
                <a:spcAft>
                  <a:spcPts val="0"/>
                </a:spcAft>
                <a:buNone/>
              </a:pPr>
              <a:endParaRPr sz="1800">
                <a:solidFill>
                  <a:schemeClr val="dk1"/>
                </a:solidFill>
                <a:latin typeface="Calibri"/>
                <a:ea typeface="Calibri"/>
                <a:cs typeface="Calibri"/>
                <a:sym typeface="Calibri"/>
              </a:endParaRPr>
            </a:p>
          </p:txBody>
        </p:sp>
      </p:grpSp>
      <p:sp>
        <p:nvSpPr>
          <p:cNvPr id="193" name="Google Shape;193;p22"/>
          <p:cNvSpPr/>
          <p:nvPr/>
        </p:nvSpPr>
        <p:spPr>
          <a:xfrm>
            <a:off x="11050519" y="3554609"/>
            <a:ext cx="9225147" cy="8229600"/>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 name="Google Shape;194;p22"/>
          <p:cNvSpPr/>
          <p:nvPr/>
        </p:nvSpPr>
        <p:spPr>
          <a:xfrm>
            <a:off x="459223" y="455169"/>
            <a:ext cx="658285" cy="573531"/>
          </a:xfrm>
          <a:custGeom>
            <a:avLst/>
            <a:gdLst/>
            <a:ahLst/>
            <a:cxnLst/>
            <a:rect l="l" t="t" r="r" b="b"/>
            <a:pathLst>
              <a:path w="658285" h="573531" extrusionOk="0">
                <a:moveTo>
                  <a:pt x="0" y="0"/>
                </a:moveTo>
                <a:lnTo>
                  <a:pt x="658285" y="0"/>
                </a:lnTo>
                <a:lnTo>
                  <a:pt x="658285" y="573530"/>
                </a:lnTo>
                <a:lnTo>
                  <a:pt x="0" y="57353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5" name="Google Shape;195;p22"/>
          <p:cNvSpPr txBox="1"/>
          <p:nvPr/>
        </p:nvSpPr>
        <p:spPr>
          <a:xfrm>
            <a:off x="1274210" y="215311"/>
            <a:ext cx="4782900" cy="2117503"/>
          </a:xfrm>
          <a:prstGeom prst="rect">
            <a:avLst/>
          </a:prstGeom>
          <a:noFill/>
          <a:ln>
            <a:noFill/>
          </a:ln>
        </p:spPr>
        <p:txBody>
          <a:bodyPr spcFirstLastPara="1" wrap="square" lIns="0" tIns="0" rIns="0" bIns="0" anchor="t" anchorCtr="0">
            <a:spAutoFit/>
          </a:bodyPr>
          <a:lstStyle/>
          <a:p>
            <a:pPr marL="0" marR="0" lvl="0" indent="0" algn="l" rtl="0">
              <a:lnSpc>
                <a:spcPct val="172375"/>
              </a:lnSpc>
              <a:spcBef>
                <a:spcPts val="0"/>
              </a:spcBef>
              <a:spcAft>
                <a:spcPts val="0"/>
              </a:spcAft>
              <a:buNone/>
            </a:pPr>
            <a:r>
              <a:rPr lang="en-US" sz="4000" b="1" dirty="0">
                <a:solidFill>
                  <a:schemeClr val="lt1"/>
                </a:solidFill>
                <a:latin typeface="Raleway Black"/>
                <a:ea typeface="Raleway Black"/>
                <a:cs typeface="Raleway Black"/>
                <a:sym typeface="Raleway Black"/>
              </a:rPr>
              <a:t>How it works</a:t>
            </a:r>
            <a:endParaRPr dirty="0"/>
          </a:p>
          <a:p>
            <a:pPr marL="0" marR="0" lvl="0" indent="0" algn="l" rtl="0">
              <a:lnSpc>
                <a:spcPct val="172375"/>
              </a:lnSpc>
              <a:spcBef>
                <a:spcPts val="0"/>
              </a:spcBef>
              <a:spcAft>
                <a:spcPts val="0"/>
              </a:spcAft>
              <a:buNone/>
            </a:pPr>
            <a:endParaRPr sz="4000" b="1" dirty="0">
              <a:solidFill>
                <a:schemeClr val="lt1"/>
              </a:solidFill>
              <a:latin typeface="Raleway Black"/>
              <a:ea typeface="Raleway Black"/>
              <a:cs typeface="Raleway Black"/>
              <a:sym typeface="Raleway Black"/>
            </a:endParaRPr>
          </a:p>
        </p:txBody>
      </p:sp>
      <p:sp>
        <p:nvSpPr>
          <p:cNvPr id="196" name="Google Shape;196;p22"/>
          <p:cNvSpPr txBox="1"/>
          <p:nvPr/>
        </p:nvSpPr>
        <p:spPr>
          <a:xfrm>
            <a:off x="228600" y="1565175"/>
            <a:ext cx="9123474"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000" b="1">
                <a:solidFill>
                  <a:srgbClr val="538CD5"/>
                </a:solidFill>
                <a:latin typeface="Raleway Black"/>
                <a:ea typeface="Raleway Black"/>
                <a:cs typeface="Raleway Black"/>
                <a:sym typeface="Raleway Black"/>
              </a:rPr>
              <a:t>Functional Architecture</a:t>
            </a:r>
            <a:endParaRPr/>
          </a:p>
        </p:txBody>
      </p:sp>
      <p:pic>
        <p:nvPicPr>
          <p:cNvPr id="197" name="Google Shape;197;p22" title="Untitled diagram _ Mermaid Chart-2025-07-27-115126.png"/>
          <p:cNvPicPr preferRelativeResize="0"/>
          <p:nvPr/>
        </p:nvPicPr>
        <p:blipFill rotWithShape="1">
          <a:blip r:embed="rId5">
            <a:alphaModFix/>
          </a:blip>
          <a:srcRect r="-4723"/>
          <a:stretch/>
        </p:blipFill>
        <p:spPr>
          <a:xfrm>
            <a:off x="1905275" y="2484900"/>
            <a:ext cx="15115023" cy="73211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grpSp>
        <p:nvGrpSpPr>
          <p:cNvPr id="202" name="Google Shape;202;p23"/>
          <p:cNvGrpSpPr/>
          <p:nvPr/>
        </p:nvGrpSpPr>
        <p:grpSpPr>
          <a:xfrm>
            <a:off x="0" y="-90107"/>
            <a:ext cx="18488103" cy="1499807"/>
            <a:chOff x="0" y="0"/>
            <a:chExt cx="4869295" cy="959926"/>
          </a:xfrm>
        </p:grpSpPr>
        <p:sp>
          <p:nvSpPr>
            <p:cNvPr id="203" name="Google Shape;203;p23"/>
            <p:cNvSpPr/>
            <p:nvPr/>
          </p:nvSpPr>
          <p:spPr>
            <a:xfrm>
              <a:off x="0" y="0"/>
              <a:ext cx="4869295" cy="959926"/>
            </a:xfrm>
            <a:custGeom>
              <a:avLst/>
              <a:gdLst/>
              <a:ahLst/>
              <a:cxnLst/>
              <a:rect l="l" t="t" r="r" b="b"/>
              <a:pathLst>
                <a:path w="4869295" h="959926" extrusionOk="0">
                  <a:moveTo>
                    <a:pt x="0" y="0"/>
                  </a:moveTo>
                  <a:lnTo>
                    <a:pt x="4869295" y="0"/>
                  </a:lnTo>
                  <a:lnTo>
                    <a:pt x="4869295" y="959926"/>
                  </a:lnTo>
                  <a:lnTo>
                    <a:pt x="0" y="959926"/>
                  </a:lnTo>
                  <a:close/>
                </a:path>
              </a:pathLst>
            </a:custGeom>
            <a:gradFill>
              <a:gsLst>
                <a:gs pos="0">
                  <a:srgbClr val="1933A8"/>
                </a:gs>
                <a:gs pos="100000">
                  <a:srgbClr val="5271FF"/>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4" name="Google Shape;204;p23"/>
            <p:cNvSpPr txBox="1"/>
            <p:nvPr/>
          </p:nvSpPr>
          <p:spPr>
            <a:xfrm>
              <a:off x="0" y="9525"/>
              <a:ext cx="4869295" cy="950401"/>
            </a:xfrm>
            <a:prstGeom prst="rect">
              <a:avLst/>
            </a:prstGeom>
            <a:noFill/>
            <a:ln>
              <a:noFill/>
            </a:ln>
          </p:spPr>
          <p:txBody>
            <a:bodyPr spcFirstLastPara="1" wrap="square" lIns="50800" tIns="50800" rIns="50800" bIns="50800" anchor="ctr" anchorCtr="0">
              <a:noAutofit/>
            </a:bodyPr>
            <a:lstStyle/>
            <a:p>
              <a:pPr marL="0" marR="0" lvl="0" indent="0" algn="ctr" rtl="0">
                <a:lnSpc>
                  <a:spcPct val="84500"/>
                </a:lnSpc>
                <a:spcBef>
                  <a:spcPts val="0"/>
                </a:spcBef>
                <a:spcAft>
                  <a:spcPts val="0"/>
                </a:spcAft>
                <a:buNone/>
              </a:pPr>
              <a:endParaRPr sz="1800">
                <a:solidFill>
                  <a:schemeClr val="dk1"/>
                </a:solidFill>
                <a:latin typeface="Calibri"/>
                <a:ea typeface="Calibri"/>
                <a:cs typeface="Calibri"/>
                <a:sym typeface="Calibri"/>
              </a:endParaRPr>
            </a:p>
          </p:txBody>
        </p:sp>
      </p:grpSp>
      <p:sp>
        <p:nvSpPr>
          <p:cNvPr id="205" name="Google Shape;205;p23"/>
          <p:cNvSpPr/>
          <p:nvPr/>
        </p:nvSpPr>
        <p:spPr>
          <a:xfrm>
            <a:off x="11050519" y="3554609"/>
            <a:ext cx="9225147" cy="8229600"/>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23"/>
          <p:cNvSpPr/>
          <p:nvPr/>
        </p:nvSpPr>
        <p:spPr>
          <a:xfrm>
            <a:off x="459223" y="455169"/>
            <a:ext cx="658285" cy="573531"/>
          </a:xfrm>
          <a:custGeom>
            <a:avLst/>
            <a:gdLst/>
            <a:ahLst/>
            <a:cxnLst/>
            <a:rect l="l" t="t" r="r" b="b"/>
            <a:pathLst>
              <a:path w="658285" h="573531" extrusionOk="0">
                <a:moveTo>
                  <a:pt x="0" y="0"/>
                </a:moveTo>
                <a:lnTo>
                  <a:pt x="658285" y="0"/>
                </a:lnTo>
                <a:lnTo>
                  <a:pt x="658285" y="573530"/>
                </a:lnTo>
                <a:lnTo>
                  <a:pt x="0" y="57353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p23"/>
          <p:cNvSpPr txBox="1"/>
          <p:nvPr/>
        </p:nvSpPr>
        <p:spPr>
          <a:xfrm>
            <a:off x="1280525" y="193118"/>
            <a:ext cx="6849879" cy="1671163"/>
          </a:xfrm>
          <a:prstGeom prst="rect">
            <a:avLst/>
          </a:prstGeom>
          <a:noFill/>
          <a:ln>
            <a:noFill/>
          </a:ln>
        </p:spPr>
        <p:txBody>
          <a:bodyPr spcFirstLastPara="1" wrap="square" lIns="0" tIns="0" rIns="0" bIns="0" anchor="t" anchorCtr="0">
            <a:spAutoFit/>
          </a:bodyPr>
          <a:lstStyle/>
          <a:p>
            <a:pPr marL="0" marR="0" lvl="0" indent="0" algn="l" rtl="0">
              <a:lnSpc>
                <a:spcPct val="172375"/>
              </a:lnSpc>
              <a:spcBef>
                <a:spcPts val="0"/>
              </a:spcBef>
              <a:spcAft>
                <a:spcPts val="0"/>
              </a:spcAft>
              <a:buNone/>
            </a:pPr>
            <a:r>
              <a:rPr lang="en-US" sz="4000" b="1" dirty="0">
                <a:solidFill>
                  <a:schemeClr val="lt1"/>
                </a:solidFill>
                <a:latin typeface="Raleway Black"/>
                <a:ea typeface="Raleway Black"/>
                <a:cs typeface="Raleway Black"/>
                <a:sym typeface="Raleway Black"/>
              </a:rPr>
              <a:t>How it works</a:t>
            </a:r>
            <a:endParaRPr dirty="0"/>
          </a:p>
          <a:p>
            <a:pPr marL="0" marR="0" lvl="0" indent="0" algn="l" rtl="0">
              <a:lnSpc>
                <a:spcPct val="172375"/>
              </a:lnSpc>
              <a:spcBef>
                <a:spcPts val="0"/>
              </a:spcBef>
              <a:spcAft>
                <a:spcPts val="0"/>
              </a:spcAft>
              <a:buNone/>
            </a:pPr>
            <a:endParaRPr sz="4000" b="1" dirty="0">
              <a:solidFill>
                <a:schemeClr val="lt1"/>
              </a:solidFill>
              <a:latin typeface="Raleway Black"/>
              <a:ea typeface="Raleway Black"/>
              <a:cs typeface="Raleway Black"/>
              <a:sym typeface="Raleway Black"/>
            </a:endParaRPr>
          </a:p>
        </p:txBody>
      </p:sp>
      <p:sp>
        <p:nvSpPr>
          <p:cNvPr id="208" name="Google Shape;208;p23"/>
          <p:cNvSpPr txBox="1"/>
          <p:nvPr/>
        </p:nvSpPr>
        <p:spPr>
          <a:xfrm>
            <a:off x="459223" y="1632317"/>
            <a:ext cx="9175233"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000" b="1">
                <a:solidFill>
                  <a:srgbClr val="538CD5"/>
                </a:solidFill>
                <a:latin typeface="Raleway Black"/>
                <a:ea typeface="Raleway Black"/>
                <a:cs typeface="Raleway Black"/>
                <a:sym typeface="Raleway Black"/>
              </a:rPr>
              <a:t>Technical Architecture</a:t>
            </a:r>
            <a:endParaRPr/>
          </a:p>
        </p:txBody>
      </p:sp>
      <p:pic>
        <p:nvPicPr>
          <p:cNvPr id="209" name="Google Shape;209;p23" title="Untitled diagram _ Mermaid Chart-2025-07-27-115617.png"/>
          <p:cNvPicPr preferRelativeResize="0"/>
          <p:nvPr/>
        </p:nvPicPr>
        <p:blipFill>
          <a:blip r:embed="rId5">
            <a:alphaModFix/>
          </a:blip>
          <a:stretch>
            <a:fillRect/>
          </a:stretch>
        </p:blipFill>
        <p:spPr>
          <a:xfrm>
            <a:off x="1117500" y="2471443"/>
            <a:ext cx="15807698" cy="69081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4"/>
          <p:cNvSpPr/>
          <p:nvPr/>
        </p:nvSpPr>
        <p:spPr>
          <a:xfrm>
            <a:off x="1028700" y="1028700"/>
            <a:ext cx="461704" cy="408608"/>
          </a:xfrm>
          <a:custGeom>
            <a:avLst/>
            <a:gdLst/>
            <a:ahLst/>
            <a:cxnLst/>
            <a:rect l="l" t="t" r="r" b="b"/>
            <a:pathLst>
              <a:path w="461704" h="408608" extrusionOk="0">
                <a:moveTo>
                  <a:pt x="0" y="0"/>
                </a:moveTo>
                <a:lnTo>
                  <a:pt x="461704" y="0"/>
                </a:lnTo>
                <a:lnTo>
                  <a:pt x="461704" y="408608"/>
                </a:lnTo>
                <a:lnTo>
                  <a:pt x="0" y="40860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5" name="Google Shape;215;p24"/>
          <p:cNvSpPr/>
          <p:nvPr/>
        </p:nvSpPr>
        <p:spPr>
          <a:xfrm>
            <a:off x="11617742" y="-2281732"/>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6" name="Google Shape;216;p24"/>
          <p:cNvSpPr/>
          <p:nvPr/>
        </p:nvSpPr>
        <p:spPr>
          <a:xfrm>
            <a:off x="9295493" y="7381784"/>
            <a:ext cx="9225147" cy="8229600"/>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217" name="Google Shape;217;p24"/>
          <p:cNvGrpSpPr/>
          <p:nvPr/>
        </p:nvGrpSpPr>
        <p:grpSpPr>
          <a:xfrm>
            <a:off x="13122247" y="-881860"/>
            <a:ext cx="5208518" cy="11168860"/>
            <a:chOff x="0" y="9525"/>
            <a:chExt cx="1371791" cy="2941593"/>
          </a:xfrm>
        </p:grpSpPr>
        <p:sp>
          <p:nvSpPr>
            <p:cNvPr id="218" name="Google Shape;218;p24"/>
            <p:cNvSpPr/>
            <p:nvPr/>
          </p:nvSpPr>
          <p:spPr>
            <a:xfrm>
              <a:off x="714395" y="620335"/>
              <a:ext cx="657396" cy="2330783"/>
            </a:xfrm>
            <a:custGeom>
              <a:avLst/>
              <a:gdLst/>
              <a:ahLst/>
              <a:cxnLst/>
              <a:rect l="l" t="t" r="r" b="b"/>
              <a:pathLst>
                <a:path w="773782" h="2756798" extrusionOk="0">
                  <a:moveTo>
                    <a:pt x="0" y="0"/>
                  </a:moveTo>
                  <a:lnTo>
                    <a:pt x="773782" y="0"/>
                  </a:lnTo>
                  <a:lnTo>
                    <a:pt x="773782" y="2756798"/>
                  </a:lnTo>
                  <a:lnTo>
                    <a:pt x="0" y="2756798"/>
                  </a:lnTo>
                  <a:close/>
                </a:path>
              </a:pathLst>
            </a:custGeom>
            <a:gradFill>
              <a:gsLst>
                <a:gs pos="0">
                  <a:srgbClr val="1933A8"/>
                </a:gs>
                <a:gs pos="100000">
                  <a:srgbClr val="5271FF"/>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9" name="Google Shape;219;p24"/>
            <p:cNvSpPr txBox="1"/>
            <p:nvPr/>
          </p:nvSpPr>
          <p:spPr>
            <a:xfrm>
              <a:off x="0" y="9525"/>
              <a:ext cx="773782" cy="2747273"/>
            </a:xfrm>
            <a:prstGeom prst="rect">
              <a:avLst/>
            </a:prstGeom>
            <a:noFill/>
            <a:ln>
              <a:noFill/>
            </a:ln>
          </p:spPr>
          <p:txBody>
            <a:bodyPr spcFirstLastPara="1" wrap="square" lIns="50800" tIns="50800" rIns="50800" bIns="50800" anchor="ctr" anchorCtr="0">
              <a:noAutofit/>
            </a:bodyPr>
            <a:lstStyle/>
            <a:p>
              <a:pPr marL="0" marR="0" lvl="0" indent="0" algn="ctr" rtl="0">
                <a:lnSpc>
                  <a:spcPct val="84500"/>
                </a:lnSpc>
                <a:spcBef>
                  <a:spcPts val="0"/>
                </a:spcBef>
                <a:spcAft>
                  <a:spcPts val="0"/>
                </a:spcAft>
                <a:buNone/>
              </a:pPr>
              <a:endParaRPr sz="1800">
                <a:solidFill>
                  <a:schemeClr val="dk1"/>
                </a:solidFill>
                <a:latin typeface="Calibri"/>
                <a:ea typeface="Calibri"/>
                <a:cs typeface="Calibri"/>
                <a:sym typeface="Calibri"/>
              </a:endParaRPr>
            </a:p>
          </p:txBody>
        </p:sp>
      </p:grpSp>
      <p:sp>
        <p:nvSpPr>
          <p:cNvPr id="220" name="Google Shape;220;p24"/>
          <p:cNvSpPr/>
          <p:nvPr/>
        </p:nvSpPr>
        <p:spPr>
          <a:xfrm rot="10800000">
            <a:off x="16283560" y="9022657"/>
            <a:ext cx="1156456" cy="584010"/>
          </a:xfrm>
          <a:custGeom>
            <a:avLst/>
            <a:gdLst/>
            <a:ahLst/>
            <a:cxnLst/>
            <a:rect l="l" t="t" r="r" b="b"/>
            <a:pathLst>
              <a:path w="1156456" h="584010" extrusionOk="0">
                <a:moveTo>
                  <a:pt x="0" y="0"/>
                </a:moveTo>
                <a:lnTo>
                  <a:pt x="1156456" y="0"/>
                </a:lnTo>
                <a:lnTo>
                  <a:pt x="1156456" y="584010"/>
                </a:lnTo>
                <a:lnTo>
                  <a:pt x="0" y="584010"/>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accent1"/>
              </a:solidFill>
              <a:latin typeface="Calibri"/>
              <a:ea typeface="Calibri"/>
              <a:cs typeface="Calibri"/>
              <a:sym typeface="Calibri"/>
            </a:endParaRPr>
          </a:p>
        </p:txBody>
      </p:sp>
      <p:sp>
        <p:nvSpPr>
          <p:cNvPr id="221" name="Google Shape;221;p24"/>
          <p:cNvSpPr txBox="1"/>
          <p:nvPr/>
        </p:nvSpPr>
        <p:spPr>
          <a:xfrm>
            <a:off x="566875" y="419100"/>
            <a:ext cx="14690100" cy="16471200"/>
          </a:xfrm>
          <a:prstGeom prst="rect">
            <a:avLst/>
          </a:prstGeom>
          <a:noFill/>
          <a:ln>
            <a:noFill/>
          </a:ln>
        </p:spPr>
        <p:txBody>
          <a:bodyPr spcFirstLastPara="1" wrap="square" lIns="0" tIns="0" rIns="0" bIns="0" anchor="t" anchorCtr="0">
            <a:spAutoFit/>
          </a:bodyPr>
          <a:lstStyle/>
          <a:p>
            <a:pPr marL="0" marR="0" lvl="0" indent="0" algn="l" rtl="0">
              <a:lnSpc>
                <a:spcPct val="153150"/>
              </a:lnSpc>
              <a:spcBef>
                <a:spcPts val="0"/>
              </a:spcBef>
              <a:spcAft>
                <a:spcPts val="0"/>
              </a:spcAft>
              <a:buNone/>
            </a:pPr>
            <a:r>
              <a:rPr lang="en-US" sz="4000" b="1">
                <a:solidFill>
                  <a:srgbClr val="5271FF"/>
                </a:solidFill>
                <a:latin typeface="Raleway Black"/>
                <a:ea typeface="Raleway Black"/>
                <a:cs typeface="Raleway Black"/>
                <a:sym typeface="Raleway Black"/>
              </a:rPr>
              <a:t>Innovation and Creativity</a:t>
            </a:r>
            <a:endParaRPr/>
          </a:p>
          <a:p>
            <a:pPr marL="457200" marR="0" lvl="0" indent="-228600" algn="l" rtl="0">
              <a:spcBef>
                <a:spcPts val="0"/>
              </a:spcBef>
              <a:spcAft>
                <a:spcPts val="0"/>
              </a:spcAft>
              <a:buClr>
                <a:schemeClr val="dk1"/>
              </a:buClr>
              <a:buSzPts val="3600"/>
              <a:buFont typeface="Calibri"/>
              <a:buChar char="•"/>
            </a:pPr>
            <a:r>
              <a:rPr lang="en-US" sz="3600" b="1">
                <a:solidFill>
                  <a:schemeClr val="dk1"/>
                </a:solidFill>
                <a:latin typeface="Calibri"/>
                <a:ea typeface="Calibri"/>
                <a:cs typeface="Calibri"/>
                <a:sym typeface="Calibri"/>
              </a:rPr>
              <a:t>AI-powered Skill Gap Analysis</a:t>
            </a:r>
            <a:r>
              <a:rPr lang="en-US" sz="3600">
                <a:solidFill>
                  <a:schemeClr val="dk1"/>
                </a:solidFill>
                <a:latin typeface="Calibri"/>
                <a:ea typeface="Calibri"/>
                <a:cs typeface="Calibri"/>
                <a:sym typeface="Calibri"/>
              </a:rPr>
              <a:t>: Compares user resumes with job requirements to identify missing skills.</a:t>
            </a:r>
            <a:endParaRPr sz="3600"/>
          </a:p>
          <a:p>
            <a:pPr marL="457200" marR="0" lvl="0" indent="-228600" algn="l" rtl="0">
              <a:spcBef>
                <a:spcPts val="0"/>
              </a:spcBef>
              <a:spcAft>
                <a:spcPts val="0"/>
              </a:spcAft>
              <a:buClr>
                <a:schemeClr val="dk1"/>
              </a:buClr>
              <a:buSzPts val="3600"/>
              <a:buFont typeface="Calibri"/>
              <a:buChar char="•"/>
            </a:pPr>
            <a:r>
              <a:rPr lang="en-US" sz="3600" b="1">
                <a:solidFill>
                  <a:schemeClr val="dk1"/>
                </a:solidFill>
                <a:latin typeface="Calibri"/>
                <a:ea typeface="Calibri"/>
                <a:cs typeface="Calibri"/>
                <a:sym typeface="Calibri"/>
              </a:rPr>
              <a:t>Personalized Learning Roadmap</a:t>
            </a:r>
            <a:r>
              <a:rPr lang="en-US" sz="3600">
                <a:solidFill>
                  <a:schemeClr val="dk1"/>
                </a:solidFill>
                <a:latin typeface="Calibri"/>
                <a:ea typeface="Calibri"/>
                <a:cs typeface="Calibri"/>
                <a:sym typeface="Calibri"/>
              </a:rPr>
              <a:t>: Tailors learning paths based on user goals and current skill levels.</a:t>
            </a:r>
            <a:endParaRPr sz="3600"/>
          </a:p>
          <a:p>
            <a:pPr marL="457200" marR="0" lvl="0" indent="-228600" algn="l" rtl="0">
              <a:spcBef>
                <a:spcPts val="0"/>
              </a:spcBef>
              <a:spcAft>
                <a:spcPts val="0"/>
              </a:spcAft>
              <a:buClr>
                <a:schemeClr val="dk1"/>
              </a:buClr>
              <a:buSzPts val="3600"/>
              <a:buFont typeface="Calibri"/>
              <a:buChar char="•"/>
            </a:pPr>
            <a:r>
              <a:rPr lang="en-US" sz="3600" b="1">
                <a:solidFill>
                  <a:schemeClr val="dk1"/>
                </a:solidFill>
                <a:latin typeface="Calibri"/>
                <a:ea typeface="Calibri"/>
                <a:cs typeface="Calibri"/>
                <a:sym typeface="Calibri"/>
              </a:rPr>
              <a:t>Gamified Learning Experience</a:t>
            </a:r>
            <a:r>
              <a:rPr lang="en-US" sz="3600">
                <a:solidFill>
                  <a:schemeClr val="dk1"/>
                </a:solidFill>
                <a:latin typeface="Calibri"/>
                <a:ea typeface="Calibri"/>
                <a:cs typeface="Calibri"/>
                <a:sym typeface="Calibri"/>
              </a:rPr>
              <a:t>: Features XP, badges, and progress tracking to boost engagement.</a:t>
            </a:r>
            <a:endParaRPr sz="3600"/>
          </a:p>
          <a:p>
            <a:pPr marL="457200" marR="0" lvl="0" indent="-228600" algn="l" rtl="0">
              <a:spcBef>
                <a:spcPts val="0"/>
              </a:spcBef>
              <a:spcAft>
                <a:spcPts val="0"/>
              </a:spcAft>
              <a:buClr>
                <a:schemeClr val="dk1"/>
              </a:buClr>
              <a:buSzPts val="3600"/>
              <a:buFont typeface="Calibri"/>
              <a:buChar char="•"/>
            </a:pPr>
            <a:r>
              <a:rPr lang="en-US" sz="3600" b="1">
                <a:solidFill>
                  <a:schemeClr val="dk1"/>
                </a:solidFill>
                <a:latin typeface="Calibri"/>
                <a:ea typeface="Calibri"/>
                <a:cs typeface="Calibri"/>
                <a:sym typeface="Calibri"/>
              </a:rPr>
              <a:t>Resume to Roadmap Automation</a:t>
            </a:r>
            <a:r>
              <a:rPr lang="en-US" sz="3600">
                <a:solidFill>
                  <a:schemeClr val="dk1"/>
                </a:solidFill>
                <a:latin typeface="Calibri"/>
                <a:ea typeface="Calibri"/>
                <a:cs typeface="Calibri"/>
                <a:sym typeface="Calibri"/>
              </a:rPr>
              <a:t>: Seamlessly generates a learning journey from uploaded resumes.</a:t>
            </a:r>
            <a:endParaRPr sz="3600"/>
          </a:p>
          <a:p>
            <a:pPr marL="457200" marR="0" lvl="0" indent="-228600" algn="l" rtl="0">
              <a:spcBef>
                <a:spcPts val="0"/>
              </a:spcBef>
              <a:spcAft>
                <a:spcPts val="0"/>
              </a:spcAft>
              <a:buClr>
                <a:schemeClr val="dk1"/>
              </a:buClr>
              <a:buSzPts val="3600"/>
              <a:buFont typeface="Calibri"/>
              <a:buChar char="•"/>
            </a:pPr>
            <a:r>
              <a:rPr lang="en-US" sz="3600" b="1">
                <a:solidFill>
                  <a:schemeClr val="dk1"/>
                </a:solidFill>
                <a:latin typeface="Calibri"/>
                <a:ea typeface="Calibri"/>
                <a:cs typeface="Calibri"/>
                <a:sym typeface="Calibri"/>
              </a:rPr>
              <a:t>Performance Analytics</a:t>
            </a:r>
            <a:r>
              <a:rPr lang="en-US" sz="3600">
                <a:solidFill>
                  <a:schemeClr val="dk1"/>
                </a:solidFill>
                <a:latin typeface="Calibri"/>
                <a:ea typeface="Calibri"/>
                <a:cs typeface="Calibri"/>
                <a:sym typeface="Calibri"/>
              </a:rPr>
              <a:t>: Offers insights into user growth, strengths, and areas for improvement.</a:t>
            </a:r>
            <a:endParaRPr sz="3600"/>
          </a:p>
          <a:p>
            <a:pPr marL="457200" marR="0" lvl="0" indent="-228600" algn="l" rtl="0">
              <a:spcBef>
                <a:spcPts val="0"/>
              </a:spcBef>
              <a:spcAft>
                <a:spcPts val="0"/>
              </a:spcAft>
              <a:buClr>
                <a:schemeClr val="dk1"/>
              </a:buClr>
              <a:buSzPts val="3600"/>
              <a:buFont typeface="Calibri"/>
              <a:buChar char="•"/>
            </a:pPr>
            <a:r>
              <a:rPr lang="en-US" sz="3600" b="1">
                <a:solidFill>
                  <a:schemeClr val="dk1"/>
                </a:solidFill>
                <a:latin typeface="Calibri"/>
                <a:ea typeface="Calibri"/>
                <a:cs typeface="Calibri"/>
                <a:sym typeface="Calibri"/>
              </a:rPr>
              <a:t>Community-Based Learning (Guilds)</a:t>
            </a:r>
            <a:r>
              <a:rPr lang="en-US" sz="3600">
                <a:solidFill>
                  <a:schemeClr val="dk1"/>
                </a:solidFill>
                <a:latin typeface="Calibri"/>
                <a:ea typeface="Calibri"/>
                <a:cs typeface="Calibri"/>
                <a:sym typeface="Calibri"/>
              </a:rPr>
              <a:t>: Encourages collaboration, knowledge sharing, and friendly competition among users.</a:t>
            </a:r>
            <a:endParaRPr sz="3600"/>
          </a:p>
          <a:p>
            <a:pPr marL="457200" marR="0" lvl="0" indent="-228600" algn="l" rtl="0">
              <a:spcBef>
                <a:spcPts val="0"/>
              </a:spcBef>
              <a:spcAft>
                <a:spcPts val="0"/>
              </a:spcAft>
              <a:buClr>
                <a:schemeClr val="dk1"/>
              </a:buClr>
              <a:buSzPts val="3600"/>
              <a:buFont typeface="Calibri"/>
              <a:buChar char="•"/>
            </a:pPr>
            <a:r>
              <a:rPr lang="en-US" sz="3600" b="1">
                <a:solidFill>
                  <a:schemeClr val="dk1"/>
                </a:solidFill>
                <a:latin typeface="Calibri"/>
                <a:ea typeface="Calibri"/>
                <a:cs typeface="Calibri"/>
                <a:sym typeface="Calibri"/>
              </a:rPr>
              <a:t>AR + AI Virtual Mentor</a:t>
            </a:r>
            <a:r>
              <a:rPr lang="en-US" sz="3600">
                <a:solidFill>
                  <a:schemeClr val="dk1"/>
                </a:solidFill>
                <a:latin typeface="Calibri"/>
                <a:ea typeface="Calibri"/>
                <a:cs typeface="Calibri"/>
                <a:sym typeface="Calibri"/>
              </a:rPr>
              <a:t>: Conducts mock interviews and provides real-time feedback on soft skills.</a:t>
            </a:r>
            <a:endParaRPr sz="3600"/>
          </a:p>
          <a:p>
            <a:pPr marL="0" marR="0" lvl="0" indent="0" algn="l" rtl="0">
              <a:spcBef>
                <a:spcPts val="0"/>
              </a:spcBef>
              <a:spcAft>
                <a:spcPts val="0"/>
              </a:spcAft>
              <a:buClr>
                <a:schemeClr val="dk1"/>
              </a:buClr>
              <a:buSzPts val="3600"/>
              <a:buFont typeface="Calibri"/>
              <a:buNone/>
            </a:pPr>
            <a:endParaRPr sz="3600">
              <a:solidFill>
                <a:schemeClr val="dk1"/>
              </a:solidFill>
              <a:latin typeface="Calibri"/>
              <a:ea typeface="Calibri"/>
              <a:cs typeface="Calibri"/>
              <a:sym typeface="Calibri"/>
            </a:endParaRPr>
          </a:p>
          <a:p>
            <a:pPr marL="0" marR="0" lvl="0" indent="0" algn="l" rtl="0">
              <a:lnSpc>
                <a:spcPct val="153150"/>
              </a:lnSpc>
              <a:spcBef>
                <a:spcPts val="0"/>
              </a:spcBef>
              <a:spcAft>
                <a:spcPts val="0"/>
              </a:spcAft>
              <a:buNone/>
            </a:pPr>
            <a:endParaRPr sz="4000" b="1">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a:solidFill>
                <a:srgbClr val="5271FF"/>
              </a:solidFill>
              <a:latin typeface="Raleway Black"/>
              <a:ea typeface="Raleway Black"/>
              <a:cs typeface="Raleway Black"/>
              <a:sym typeface="Raleway Black"/>
            </a:endParaRPr>
          </a:p>
        </p:txBody>
      </p:sp>
      <p:sp>
        <p:nvSpPr>
          <p:cNvPr id="222" name="Google Shape;222;p24"/>
          <p:cNvSpPr/>
          <p:nvPr/>
        </p:nvSpPr>
        <p:spPr>
          <a:xfrm>
            <a:off x="0" y="-323165"/>
            <a:ext cx="184731" cy="6463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5"/>
          <p:cNvSpPr/>
          <p:nvPr/>
        </p:nvSpPr>
        <p:spPr>
          <a:xfrm>
            <a:off x="-1347061" y="7725054"/>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8" name="Google Shape;228;p25"/>
          <p:cNvSpPr txBox="1"/>
          <p:nvPr/>
        </p:nvSpPr>
        <p:spPr>
          <a:xfrm>
            <a:off x="1371600" y="571500"/>
            <a:ext cx="14859000" cy="6380400"/>
          </a:xfrm>
          <a:prstGeom prst="rect">
            <a:avLst/>
          </a:prstGeom>
          <a:noFill/>
          <a:ln>
            <a:noFill/>
          </a:ln>
        </p:spPr>
        <p:txBody>
          <a:bodyPr spcFirstLastPara="1" wrap="square" lIns="0" tIns="0" rIns="0" bIns="0" anchor="t" anchorCtr="0">
            <a:spAutoFit/>
          </a:bodyPr>
          <a:lstStyle/>
          <a:p>
            <a:pPr marL="0" marR="0" lvl="0" indent="0" algn="just" rtl="0">
              <a:lnSpc>
                <a:spcPct val="153150"/>
              </a:lnSpc>
              <a:spcBef>
                <a:spcPts val="0"/>
              </a:spcBef>
              <a:spcAft>
                <a:spcPts val="0"/>
              </a:spcAft>
              <a:buNone/>
            </a:pPr>
            <a:r>
              <a:rPr lang="en-US" sz="4000" b="1" dirty="0">
                <a:solidFill>
                  <a:srgbClr val="5271FF"/>
                </a:solidFill>
                <a:latin typeface="Raleway Black"/>
                <a:ea typeface="Raleway Black"/>
                <a:cs typeface="Raleway Black"/>
                <a:sym typeface="Raleway Black"/>
              </a:rPr>
              <a:t>Scalability, Performance and Security</a:t>
            </a:r>
            <a:endParaRPr sz="4000" b="1" dirty="0">
              <a:solidFill>
                <a:srgbClr val="5271FF"/>
              </a:solidFill>
              <a:latin typeface="Raleway Black"/>
              <a:ea typeface="Raleway Black"/>
              <a:cs typeface="Raleway Black"/>
              <a:sym typeface="Raleway Black"/>
            </a:endParaRPr>
          </a:p>
          <a:p>
            <a:pPr marL="0" marR="0" lvl="0" indent="0" algn="just"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just" rtl="0">
              <a:lnSpc>
                <a:spcPct val="100000"/>
              </a:lnSpc>
              <a:spcBef>
                <a:spcPts val="0"/>
              </a:spcBef>
              <a:spcAft>
                <a:spcPts val="0"/>
              </a:spcAft>
              <a:buNone/>
            </a:pPr>
            <a:r>
              <a:rPr lang="en-US" sz="3600" dirty="0" err="1">
                <a:solidFill>
                  <a:schemeClr val="dk1"/>
                </a:solidFill>
                <a:latin typeface="Calibri"/>
                <a:ea typeface="Calibri"/>
                <a:cs typeface="Calibri"/>
                <a:sym typeface="Calibri"/>
              </a:rPr>
              <a:t>SkillArise</a:t>
            </a:r>
            <a:r>
              <a:rPr lang="en-US" sz="3600" dirty="0">
                <a:solidFill>
                  <a:schemeClr val="dk1"/>
                </a:solidFill>
                <a:latin typeface="Calibri"/>
                <a:ea typeface="Calibri"/>
                <a:cs typeface="Calibri"/>
                <a:sym typeface="Calibri"/>
              </a:rPr>
              <a:t> ensures growth and robustness through modular architecture, cloud-ready stack, database flexibility, and an API-driven design, allowing seamless scalability. Its performance is optimized with frontend optimization, asynchronous processing, efficient data handling, and adaptive logic for a smooth user experience. Security is maintained through strong authentication, data protection, API security, privacy compliance, and integrated AI &amp; content safety mechanisms to ensure user trust and platform integrity.</a:t>
            </a:r>
            <a:endParaRPr sz="3600" dirty="0"/>
          </a:p>
          <a:p>
            <a:pPr marL="0" marR="0" lvl="0" indent="0" algn="just"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p:txBody>
      </p:sp>
      <p:sp>
        <p:nvSpPr>
          <p:cNvPr id="229" name="Google Shape;229;p25"/>
          <p:cNvSpPr/>
          <p:nvPr/>
        </p:nvSpPr>
        <p:spPr>
          <a:xfrm>
            <a:off x="13675426" y="7725054"/>
            <a:ext cx="9225147" cy="8229600"/>
          </a:xfrm>
          <a:custGeom>
            <a:avLst/>
            <a:gdLst/>
            <a:ahLst/>
            <a:cxnLst/>
            <a:rect l="l" t="t" r="r" b="b"/>
            <a:pathLst>
              <a:path w="9225147" h="8229600" extrusionOk="0">
                <a:moveTo>
                  <a:pt x="0" y="0"/>
                </a:moveTo>
                <a:lnTo>
                  <a:pt x="9225148" y="0"/>
                </a:lnTo>
                <a:lnTo>
                  <a:pt x="9225148" y="8229600"/>
                </a:lnTo>
                <a:lnTo>
                  <a:pt x="0" y="822960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grpSp>
        <p:nvGrpSpPr>
          <p:cNvPr id="234" name="Google Shape;234;p26"/>
          <p:cNvGrpSpPr/>
          <p:nvPr/>
        </p:nvGrpSpPr>
        <p:grpSpPr>
          <a:xfrm>
            <a:off x="9144000" y="-90108"/>
            <a:ext cx="9144000" cy="10467217"/>
            <a:chOff x="0" y="0"/>
            <a:chExt cx="2408296" cy="2756798"/>
          </a:xfrm>
        </p:grpSpPr>
        <p:sp>
          <p:nvSpPr>
            <p:cNvPr id="235" name="Google Shape;235;p26"/>
            <p:cNvSpPr/>
            <p:nvPr/>
          </p:nvSpPr>
          <p:spPr>
            <a:xfrm>
              <a:off x="0" y="0"/>
              <a:ext cx="2408296" cy="2756798"/>
            </a:xfrm>
            <a:custGeom>
              <a:avLst/>
              <a:gdLst/>
              <a:ahLst/>
              <a:cxnLst/>
              <a:rect l="l" t="t" r="r" b="b"/>
              <a:pathLst>
                <a:path w="2408296" h="2756798" extrusionOk="0">
                  <a:moveTo>
                    <a:pt x="0" y="0"/>
                  </a:moveTo>
                  <a:lnTo>
                    <a:pt x="2408296" y="0"/>
                  </a:lnTo>
                  <a:lnTo>
                    <a:pt x="2408296" y="2756798"/>
                  </a:lnTo>
                  <a:lnTo>
                    <a:pt x="0" y="2756798"/>
                  </a:lnTo>
                  <a:close/>
                </a:path>
              </a:pathLst>
            </a:custGeom>
            <a:gradFill>
              <a:gsLst>
                <a:gs pos="0">
                  <a:srgbClr val="1933A8"/>
                </a:gs>
                <a:gs pos="100000">
                  <a:srgbClr val="5271FF"/>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26"/>
            <p:cNvSpPr txBox="1"/>
            <p:nvPr/>
          </p:nvSpPr>
          <p:spPr>
            <a:xfrm>
              <a:off x="0" y="9525"/>
              <a:ext cx="2408296" cy="2747273"/>
            </a:xfrm>
            <a:prstGeom prst="rect">
              <a:avLst/>
            </a:prstGeom>
            <a:noFill/>
            <a:ln>
              <a:noFill/>
            </a:ln>
          </p:spPr>
          <p:txBody>
            <a:bodyPr spcFirstLastPara="1" wrap="square" lIns="50800" tIns="50800" rIns="50800" bIns="50800" anchor="ctr" anchorCtr="0">
              <a:noAutofit/>
            </a:bodyPr>
            <a:lstStyle/>
            <a:p>
              <a:pPr marL="0" marR="0" lvl="0" indent="0" algn="ctr" rtl="0">
                <a:lnSpc>
                  <a:spcPct val="84500"/>
                </a:lnSpc>
                <a:spcBef>
                  <a:spcPts val="0"/>
                </a:spcBef>
                <a:spcAft>
                  <a:spcPts val="0"/>
                </a:spcAft>
                <a:buNone/>
              </a:pPr>
              <a:endParaRPr sz="1800">
                <a:solidFill>
                  <a:schemeClr val="dk1"/>
                </a:solidFill>
                <a:latin typeface="Calibri"/>
                <a:ea typeface="Calibri"/>
                <a:cs typeface="Calibri"/>
                <a:sym typeface="Calibri"/>
              </a:endParaRPr>
            </a:p>
          </p:txBody>
        </p:sp>
      </p:grpSp>
      <p:sp>
        <p:nvSpPr>
          <p:cNvPr id="237" name="Google Shape;237;p26"/>
          <p:cNvSpPr/>
          <p:nvPr/>
        </p:nvSpPr>
        <p:spPr>
          <a:xfrm>
            <a:off x="-1798116" y="3946725"/>
            <a:ext cx="9225147" cy="8229600"/>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26"/>
          <p:cNvSpPr/>
          <p:nvPr/>
        </p:nvSpPr>
        <p:spPr>
          <a:xfrm>
            <a:off x="3174467" y="-880610"/>
            <a:ext cx="9225147" cy="8229600"/>
          </a:xfrm>
          <a:custGeom>
            <a:avLst/>
            <a:gdLst/>
            <a:ahLst/>
            <a:cxnLst/>
            <a:rect l="l" t="t" r="r" b="b"/>
            <a:pathLst>
              <a:path w="9225147" h="8229600" extrusionOk="0">
                <a:moveTo>
                  <a:pt x="0" y="0"/>
                </a:moveTo>
                <a:lnTo>
                  <a:pt x="9225148" y="0"/>
                </a:lnTo>
                <a:lnTo>
                  <a:pt x="9225148"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239" name="Google Shape;239;p26"/>
          <p:cNvGrpSpPr/>
          <p:nvPr/>
        </p:nvGrpSpPr>
        <p:grpSpPr>
          <a:xfrm>
            <a:off x="457175" y="470843"/>
            <a:ext cx="17373650" cy="9381262"/>
            <a:chOff x="0" y="22135"/>
            <a:chExt cx="6512107" cy="3290516"/>
          </a:xfrm>
        </p:grpSpPr>
        <p:sp>
          <p:nvSpPr>
            <p:cNvPr id="240" name="Google Shape;240;p26"/>
            <p:cNvSpPr/>
            <p:nvPr/>
          </p:nvSpPr>
          <p:spPr>
            <a:xfrm>
              <a:off x="28562" y="499764"/>
              <a:ext cx="6483545" cy="2812887"/>
            </a:xfrm>
            <a:custGeom>
              <a:avLst/>
              <a:gdLst/>
              <a:ahLst/>
              <a:cxnLst/>
              <a:rect l="l" t="t" r="r" b="b"/>
              <a:pathLst>
                <a:path w="6483545" h="3287431" extrusionOk="0">
                  <a:moveTo>
                    <a:pt x="0" y="0"/>
                  </a:moveTo>
                  <a:lnTo>
                    <a:pt x="6483545" y="0"/>
                  </a:lnTo>
                  <a:lnTo>
                    <a:pt x="6483545" y="3287431"/>
                  </a:lnTo>
                  <a:lnTo>
                    <a:pt x="0" y="328743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600"/>
                <a:buFont typeface="Calibri"/>
                <a:buNone/>
              </a:pPr>
              <a:endParaRPr sz="3600" b="1">
                <a:solidFill>
                  <a:schemeClr val="dk1"/>
                </a:solidFill>
                <a:latin typeface="Arial"/>
                <a:ea typeface="Arial"/>
                <a:cs typeface="Arial"/>
                <a:sym typeface="Arial"/>
              </a:endParaRPr>
            </a:p>
            <a:p>
              <a:pPr marL="0" marR="0" lvl="0" indent="0" algn="l" rtl="0">
                <a:spcBef>
                  <a:spcPts val="0"/>
                </a:spcBef>
                <a:spcAft>
                  <a:spcPts val="0"/>
                </a:spcAft>
                <a:buClr>
                  <a:schemeClr val="dk1"/>
                </a:buClr>
                <a:buSzPts val="3600"/>
                <a:buFont typeface="Calibri"/>
                <a:buNone/>
              </a:pPr>
              <a:endParaRPr sz="3600" b="1">
                <a:solidFill>
                  <a:schemeClr val="dk1"/>
                </a:solidFill>
                <a:latin typeface="Arial"/>
                <a:ea typeface="Arial"/>
                <a:cs typeface="Arial"/>
                <a:sym typeface="Arial"/>
              </a:endParaRPr>
            </a:p>
            <a:p>
              <a:pPr marL="571500" marR="0" lvl="0" indent="-571500" algn="l" rtl="0">
                <a:spcBef>
                  <a:spcPts val="0"/>
                </a:spcBef>
                <a:spcAft>
                  <a:spcPts val="0"/>
                </a:spcAft>
                <a:buClr>
                  <a:schemeClr val="dk1"/>
                </a:buClr>
                <a:buSzPts val="3600"/>
                <a:buFont typeface="Arial"/>
                <a:buChar char="•"/>
              </a:pPr>
              <a:r>
                <a:rPr lang="en-US" sz="3600" b="1">
                  <a:solidFill>
                    <a:schemeClr val="dk1"/>
                  </a:solidFill>
                  <a:latin typeface="Calibri"/>
                  <a:ea typeface="Calibri"/>
                  <a:cs typeface="Calibri"/>
                  <a:sym typeface="Calibri"/>
                </a:rPr>
                <a:t>Modular &amp; Scalable:</a:t>
              </a:r>
              <a:endParaRPr/>
            </a:p>
            <a:p>
              <a:pPr marL="0" marR="0" lvl="0" indent="0" algn="l" rtl="0">
                <a:spcBef>
                  <a:spcPts val="0"/>
                </a:spcBef>
                <a:spcAft>
                  <a:spcPts val="0"/>
                </a:spcAft>
                <a:buNone/>
              </a:pPr>
              <a:r>
                <a:rPr lang="en-US" sz="3600" b="1">
                  <a:solidFill>
                    <a:schemeClr val="dk1"/>
                  </a:solidFill>
                  <a:latin typeface="Calibri"/>
                  <a:ea typeface="Calibri"/>
                  <a:cs typeface="Calibri"/>
                  <a:sym typeface="Calibri"/>
                </a:rPr>
                <a:t>         </a:t>
              </a:r>
              <a:r>
                <a:rPr lang="en-US" sz="3600">
                  <a:solidFill>
                    <a:schemeClr val="dk1"/>
                  </a:solidFill>
                  <a:latin typeface="Calibri"/>
                  <a:ea typeface="Calibri"/>
                  <a:cs typeface="Calibri"/>
                  <a:sym typeface="Calibri"/>
                </a:rPr>
                <a:t> Independent modules (parser, quiz, AR mentor) enable easy scaling and integration.</a:t>
              </a:r>
              <a:endParaRPr/>
            </a:p>
            <a:p>
              <a:pPr marL="571500" marR="0" lvl="0" indent="-571500" algn="l" rtl="0">
                <a:spcBef>
                  <a:spcPts val="0"/>
                </a:spcBef>
                <a:spcAft>
                  <a:spcPts val="0"/>
                </a:spcAft>
                <a:buClr>
                  <a:schemeClr val="dk1"/>
                </a:buClr>
                <a:buSzPts val="3600"/>
                <a:buFont typeface="Arial"/>
                <a:buChar char="•"/>
              </a:pPr>
              <a:r>
                <a:rPr lang="en-US" sz="3600" b="1">
                  <a:solidFill>
                    <a:schemeClr val="dk1"/>
                  </a:solidFill>
                  <a:latin typeface="Calibri"/>
                  <a:ea typeface="Calibri"/>
                  <a:cs typeface="Calibri"/>
                  <a:sym typeface="Calibri"/>
                </a:rPr>
                <a:t>MVP-First Agile</a:t>
              </a:r>
              <a:r>
                <a:rPr lang="en-US" sz="3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3600">
                  <a:solidFill>
                    <a:schemeClr val="dk1"/>
                  </a:solidFill>
                  <a:latin typeface="Calibri"/>
                  <a:ea typeface="Calibri"/>
                  <a:cs typeface="Calibri"/>
                  <a:sym typeface="Calibri"/>
                </a:rPr>
                <a:t>          Builds core features first (resume, gap analysis, roadmap), then iterates.</a:t>
              </a:r>
              <a:endParaRPr/>
            </a:p>
            <a:p>
              <a:pPr marL="571500" marR="0" lvl="0" indent="-571500" algn="l" rtl="0">
                <a:spcBef>
                  <a:spcPts val="0"/>
                </a:spcBef>
                <a:spcAft>
                  <a:spcPts val="0"/>
                </a:spcAft>
                <a:buClr>
                  <a:schemeClr val="dk1"/>
                </a:buClr>
                <a:buSzPts val="3600"/>
                <a:buFont typeface="Arial"/>
                <a:buChar char="•"/>
              </a:pPr>
              <a:r>
                <a:rPr lang="en-US" sz="3600" b="1">
                  <a:solidFill>
                    <a:schemeClr val="dk1"/>
                  </a:solidFill>
                  <a:latin typeface="Calibri"/>
                  <a:ea typeface="Calibri"/>
                  <a:cs typeface="Calibri"/>
                  <a:sym typeface="Calibri"/>
                </a:rPr>
                <a:t>AI/ML-Powered</a:t>
              </a:r>
              <a:r>
                <a:rPr lang="en-US" sz="3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3600">
                  <a:solidFill>
                    <a:schemeClr val="dk1"/>
                  </a:solidFill>
                  <a:latin typeface="Calibri"/>
                  <a:ea typeface="Calibri"/>
                  <a:cs typeface="Calibri"/>
                  <a:sym typeface="Calibri"/>
                </a:rPr>
                <a:t>          Uses NLP (spaCy, OpenAI) for parsing, skill mapping, and adaptive quizzes.</a:t>
              </a:r>
              <a:endParaRPr/>
            </a:p>
            <a:p>
              <a:pPr marL="571500" marR="0" lvl="0" indent="-571500" algn="l" rtl="0">
                <a:spcBef>
                  <a:spcPts val="0"/>
                </a:spcBef>
                <a:spcAft>
                  <a:spcPts val="0"/>
                </a:spcAft>
                <a:buClr>
                  <a:schemeClr val="dk1"/>
                </a:buClr>
                <a:buSzPts val="3600"/>
                <a:buFont typeface="Arial"/>
                <a:buChar char="•"/>
              </a:pPr>
              <a:r>
                <a:rPr lang="en-US" sz="3600" b="1">
                  <a:solidFill>
                    <a:schemeClr val="dk1"/>
                  </a:solidFill>
                  <a:latin typeface="Calibri"/>
                  <a:ea typeface="Calibri"/>
                  <a:cs typeface="Calibri"/>
                  <a:sym typeface="Calibri"/>
                </a:rPr>
                <a:t>Gamified Learning</a:t>
              </a:r>
              <a:r>
                <a:rPr lang="en-US" sz="36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3600">
                  <a:solidFill>
                    <a:schemeClr val="dk1"/>
                  </a:solidFill>
                  <a:latin typeface="Calibri"/>
                  <a:ea typeface="Calibri"/>
                  <a:cs typeface="Calibri"/>
                  <a:sym typeface="Calibri"/>
                </a:rPr>
                <a:t>          Offers XP, badges, and personalized roadmaps to boost engagement.</a:t>
              </a:r>
              <a:endParaRPr/>
            </a:p>
            <a:p>
              <a:pPr marL="571500" marR="0" lvl="0" indent="-571500" algn="l" rtl="0">
                <a:spcBef>
                  <a:spcPts val="0"/>
                </a:spcBef>
                <a:spcAft>
                  <a:spcPts val="0"/>
                </a:spcAft>
                <a:buClr>
                  <a:schemeClr val="dk1"/>
                </a:buClr>
                <a:buSzPts val="3600"/>
                <a:buFont typeface="Arial"/>
                <a:buChar char="•"/>
              </a:pPr>
              <a:r>
                <a:rPr lang="en-US" sz="3600" b="1">
                  <a:solidFill>
                    <a:schemeClr val="dk1"/>
                  </a:solidFill>
                  <a:latin typeface="Calibri"/>
                  <a:ea typeface="Calibri"/>
                  <a:cs typeface="Calibri"/>
                  <a:sym typeface="Calibri"/>
                </a:rPr>
                <a:t>AR Soft Skill Training</a:t>
              </a:r>
              <a:r>
                <a:rPr lang="en-US" sz="36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3600">
                  <a:solidFill>
                    <a:schemeClr val="dk1"/>
                  </a:solidFill>
                  <a:latin typeface="Calibri"/>
                  <a:ea typeface="Calibri"/>
                  <a:cs typeface="Calibri"/>
                  <a:sym typeface="Calibri"/>
                </a:rPr>
                <a:t>          AI avatar conducts mock interviews with emotion/facial feedback.</a:t>
              </a:r>
              <a:endParaRPr/>
            </a:p>
            <a:p>
              <a:pPr marL="0" marR="0" lvl="0" indent="0" algn="l" rtl="0">
                <a:spcBef>
                  <a:spcPts val="0"/>
                </a:spcBef>
                <a:spcAft>
                  <a:spcPts val="0"/>
                </a:spcAft>
                <a:buNone/>
              </a:pPr>
              <a:endParaRPr sz="3600">
                <a:solidFill>
                  <a:schemeClr val="dk1"/>
                </a:solidFill>
                <a:latin typeface="Calibri"/>
                <a:ea typeface="Calibri"/>
                <a:cs typeface="Calibri"/>
                <a:sym typeface="Calibri"/>
              </a:endParaRPr>
            </a:p>
          </p:txBody>
        </p:sp>
        <p:sp>
          <p:nvSpPr>
            <p:cNvPr id="241" name="Google Shape;241;p26"/>
            <p:cNvSpPr txBox="1"/>
            <p:nvPr/>
          </p:nvSpPr>
          <p:spPr>
            <a:xfrm>
              <a:off x="0" y="22135"/>
              <a:ext cx="6483600" cy="3277800"/>
            </a:xfrm>
            <a:prstGeom prst="rect">
              <a:avLst/>
            </a:prstGeom>
            <a:noFill/>
            <a:ln>
              <a:noFill/>
            </a:ln>
          </p:spPr>
          <p:txBody>
            <a:bodyPr spcFirstLastPara="1" wrap="square" lIns="50800" tIns="50800" rIns="50800" bIns="50800" anchor="ctr" anchorCtr="0">
              <a:noAutofit/>
            </a:bodyPr>
            <a:lstStyle/>
            <a:p>
              <a:pPr marL="0" marR="0" lvl="0" indent="0" algn="ctr" rtl="0">
                <a:lnSpc>
                  <a:spcPct val="84500"/>
                </a:lnSpc>
                <a:spcBef>
                  <a:spcPts val="0"/>
                </a:spcBef>
                <a:spcAft>
                  <a:spcPts val="0"/>
                </a:spcAft>
                <a:buNone/>
              </a:pPr>
              <a:endParaRPr sz="1800">
                <a:solidFill>
                  <a:schemeClr val="dk1"/>
                </a:solidFill>
                <a:latin typeface="Calibri"/>
                <a:ea typeface="Calibri"/>
                <a:cs typeface="Calibri"/>
                <a:sym typeface="Calibri"/>
              </a:endParaRPr>
            </a:p>
          </p:txBody>
        </p:sp>
      </p:grpSp>
      <p:sp>
        <p:nvSpPr>
          <p:cNvPr id="242" name="Google Shape;242;p26"/>
          <p:cNvSpPr txBox="1"/>
          <p:nvPr/>
        </p:nvSpPr>
        <p:spPr>
          <a:xfrm>
            <a:off x="1045125" y="956025"/>
            <a:ext cx="12057600" cy="942900"/>
          </a:xfrm>
          <a:prstGeom prst="rect">
            <a:avLst/>
          </a:prstGeom>
          <a:noFill/>
          <a:ln>
            <a:noFill/>
          </a:ln>
        </p:spPr>
        <p:txBody>
          <a:bodyPr spcFirstLastPara="1" wrap="square" lIns="0" tIns="0" rIns="0" bIns="0" anchor="t" anchorCtr="0">
            <a:spAutoFit/>
          </a:bodyPr>
          <a:lstStyle/>
          <a:p>
            <a:pPr marL="0" marR="0" lvl="0" indent="0" algn="l" rtl="0">
              <a:lnSpc>
                <a:spcPct val="153150"/>
              </a:lnSpc>
              <a:spcBef>
                <a:spcPts val="0"/>
              </a:spcBef>
              <a:spcAft>
                <a:spcPts val="0"/>
              </a:spcAft>
              <a:buNone/>
            </a:pPr>
            <a:r>
              <a:rPr lang="en-US" sz="4000" b="1" dirty="0">
                <a:solidFill>
                  <a:srgbClr val="5271FF"/>
                </a:solidFill>
                <a:latin typeface="Raleway Black"/>
                <a:ea typeface="Raleway Black"/>
                <a:cs typeface="Raleway Black"/>
                <a:sym typeface="Raleway Black"/>
              </a:rPr>
              <a:t>Best practices and industry standards followed</a:t>
            </a:r>
            <a:endParaRPr dirty="0"/>
          </a:p>
        </p:txBody>
      </p:sp>
      <p:sp>
        <p:nvSpPr>
          <p:cNvPr id="243" name="Google Shape;243;p26"/>
          <p:cNvSpPr/>
          <p:nvPr/>
        </p:nvSpPr>
        <p:spPr>
          <a:xfrm rot="10800000">
            <a:off x="15970660" y="46778"/>
            <a:ext cx="2087066" cy="2226204"/>
          </a:xfrm>
          <a:custGeom>
            <a:avLst/>
            <a:gdLst/>
            <a:ahLst/>
            <a:cxnLst/>
            <a:rect l="l" t="t" r="r" b="b"/>
            <a:pathLst>
              <a:path w="2087066" h="2226204" extrusionOk="0">
                <a:moveTo>
                  <a:pt x="0" y="0"/>
                </a:moveTo>
                <a:lnTo>
                  <a:pt x="2087066" y="0"/>
                </a:lnTo>
                <a:lnTo>
                  <a:pt x="2087066" y="2226204"/>
                </a:lnTo>
                <a:lnTo>
                  <a:pt x="0" y="222620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4" name="Google Shape;244;p26"/>
          <p:cNvSpPr txBox="1"/>
          <p:nvPr/>
        </p:nvSpPr>
        <p:spPr>
          <a:xfrm>
            <a:off x="0" y="4092767"/>
            <a:ext cx="18288000" cy="67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7"/>
          <p:cNvSpPr/>
          <p:nvPr/>
        </p:nvSpPr>
        <p:spPr>
          <a:xfrm>
            <a:off x="-1347061" y="7725054"/>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0" name="Google Shape;250;p27"/>
          <p:cNvSpPr txBox="1"/>
          <p:nvPr/>
        </p:nvSpPr>
        <p:spPr>
          <a:xfrm>
            <a:off x="762000" y="561100"/>
            <a:ext cx="15392400" cy="17381400"/>
          </a:xfrm>
          <a:prstGeom prst="rect">
            <a:avLst/>
          </a:prstGeom>
          <a:noFill/>
          <a:ln>
            <a:noFill/>
          </a:ln>
        </p:spPr>
        <p:txBody>
          <a:bodyPr spcFirstLastPara="1" wrap="square" lIns="0" tIns="0" rIns="0" bIns="0" anchor="t" anchorCtr="0">
            <a:spAutoFit/>
          </a:bodyPr>
          <a:lstStyle/>
          <a:p>
            <a:pPr marL="0" marR="0" lvl="0" indent="0" algn="l" rtl="0">
              <a:lnSpc>
                <a:spcPct val="153150"/>
              </a:lnSpc>
              <a:spcBef>
                <a:spcPts val="0"/>
              </a:spcBef>
              <a:spcAft>
                <a:spcPts val="0"/>
              </a:spcAft>
              <a:buNone/>
            </a:pPr>
            <a:r>
              <a:rPr lang="en-US" sz="4000" b="1" dirty="0">
                <a:solidFill>
                  <a:srgbClr val="5271FF"/>
                </a:solidFill>
                <a:latin typeface="Raleway Black"/>
                <a:ea typeface="Raleway Black"/>
                <a:cs typeface="Raleway Black"/>
                <a:sym typeface="Raleway Black"/>
              </a:rPr>
              <a:t>User Experience:</a:t>
            </a:r>
            <a:endParaRPr dirty="0"/>
          </a:p>
          <a:p>
            <a:pPr marL="457200" marR="0" lvl="0" indent="-228600" algn="l" rtl="0">
              <a:spcBef>
                <a:spcPts val="0"/>
              </a:spcBef>
              <a:spcAft>
                <a:spcPts val="0"/>
              </a:spcAft>
              <a:buClr>
                <a:schemeClr val="dk1"/>
              </a:buClr>
              <a:buSzPts val="3600"/>
              <a:buFont typeface="Calibri"/>
              <a:buChar char="•"/>
            </a:pPr>
            <a:r>
              <a:rPr lang="en-US" sz="3600" dirty="0">
                <a:solidFill>
                  <a:schemeClr val="dk1"/>
                </a:solidFill>
                <a:latin typeface="Calibri"/>
                <a:ea typeface="Calibri"/>
                <a:cs typeface="Calibri"/>
                <a:sym typeface="Calibri"/>
              </a:rPr>
              <a:t>The journey begins as users upload their resume, allowing the system to instantly    extract key skills.</a:t>
            </a:r>
            <a:br>
              <a:rPr lang="en-US" sz="3600" dirty="0">
                <a:solidFill>
                  <a:schemeClr val="dk1"/>
                </a:solidFill>
                <a:latin typeface="Calibri"/>
                <a:ea typeface="Calibri"/>
                <a:cs typeface="Calibri"/>
                <a:sym typeface="Calibri"/>
              </a:rPr>
            </a:br>
            <a:r>
              <a:rPr lang="en-US" sz="3600" dirty="0">
                <a:solidFill>
                  <a:schemeClr val="dk1"/>
                </a:solidFill>
                <a:latin typeface="Calibri"/>
                <a:ea typeface="Calibri"/>
                <a:cs typeface="Calibri"/>
                <a:sym typeface="Calibri"/>
              </a:rPr>
              <a:t>This forms the foundation for a tailored and efficient learning path.</a:t>
            </a:r>
            <a:endParaRPr sz="3600" dirty="0"/>
          </a:p>
          <a:p>
            <a:pPr marL="457200" marR="0" lvl="0" indent="-228600" algn="l" rtl="0">
              <a:spcBef>
                <a:spcPts val="0"/>
              </a:spcBef>
              <a:spcAft>
                <a:spcPts val="0"/>
              </a:spcAft>
              <a:buClr>
                <a:schemeClr val="dk1"/>
              </a:buClr>
              <a:buSzPts val="3600"/>
              <a:buFont typeface="Calibri"/>
              <a:buChar char="•"/>
            </a:pPr>
            <a:r>
              <a:rPr lang="en-US" sz="3600" dirty="0">
                <a:solidFill>
                  <a:schemeClr val="dk1"/>
                </a:solidFill>
                <a:latin typeface="Calibri"/>
                <a:ea typeface="Calibri"/>
                <a:cs typeface="Calibri"/>
                <a:sym typeface="Calibri"/>
              </a:rPr>
              <a:t>Next, users engage in adaptive quizzes that match their current knowledge level.</a:t>
            </a:r>
            <a:br>
              <a:rPr lang="en-US" sz="3600" dirty="0">
                <a:solidFill>
                  <a:schemeClr val="dk1"/>
                </a:solidFill>
                <a:latin typeface="Calibri"/>
                <a:ea typeface="Calibri"/>
                <a:cs typeface="Calibri"/>
                <a:sym typeface="Calibri"/>
              </a:rPr>
            </a:br>
            <a:r>
              <a:rPr lang="en-US" sz="3600" dirty="0">
                <a:solidFill>
                  <a:schemeClr val="dk1"/>
                </a:solidFill>
                <a:latin typeface="Calibri"/>
                <a:ea typeface="Calibri"/>
                <a:cs typeface="Calibri"/>
                <a:sym typeface="Calibri"/>
              </a:rPr>
              <a:t>These smart assessments ensure each learner gets just the right challenge.</a:t>
            </a:r>
            <a:endParaRPr sz="3600" dirty="0"/>
          </a:p>
          <a:p>
            <a:pPr marL="457200" marR="0" lvl="0" indent="-228600" algn="l" rtl="0">
              <a:spcBef>
                <a:spcPts val="0"/>
              </a:spcBef>
              <a:spcAft>
                <a:spcPts val="0"/>
              </a:spcAft>
              <a:buClr>
                <a:schemeClr val="dk1"/>
              </a:buClr>
              <a:buSzPts val="3600"/>
              <a:buFont typeface="Calibri"/>
              <a:buChar char="•"/>
            </a:pPr>
            <a:r>
              <a:rPr lang="en-US" sz="3600" dirty="0">
                <a:solidFill>
                  <a:schemeClr val="dk1"/>
                </a:solidFill>
                <a:latin typeface="Calibri"/>
                <a:ea typeface="Calibri"/>
                <a:cs typeface="Calibri"/>
                <a:sym typeface="Calibri"/>
              </a:rPr>
              <a:t>As they progress, a dynamic skill tree visually displays strengths, gaps, and </a:t>
            </a:r>
            <a:r>
              <a:rPr lang="en-US" sz="3600" dirty="0" err="1">
                <a:solidFill>
                  <a:schemeClr val="dk1"/>
                </a:solidFill>
                <a:latin typeface="Calibri"/>
                <a:ea typeface="Calibri"/>
                <a:cs typeface="Calibri"/>
                <a:sym typeface="Calibri"/>
              </a:rPr>
              <a:t>improvements.This</a:t>
            </a:r>
            <a:r>
              <a:rPr lang="en-US" sz="3600" dirty="0">
                <a:solidFill>
                  <a:schemeClr val="dk1"/>
                </a:solidFill>
                <a:latin typeface="Calibri"/>
                <a:ea typeface="Calibri"/>
                <a:cs typeface="Calibri"/>
                <a:sym typeface="Calibri"/>
              </a:rPr>
              <a:t> makes it easy to track development and stay motivated.</a:t>
            </a:r>
            <a:endParaRPr sz="3600" dirty="0"/>
          </a:p>
          <a:p>
            <a:pPr marL="457200" marR="0" lvl="0" indent="-228600" algn="l" rtl="0">
              <a:spcBef>
                <a:spcPts val="0"/>
              </a:spcBef>
              <a:spcAft>
                <a:spcPts val="0"/>
              </a:spcAft>
              <a:buClr>
                <a:schemeClr val="dk1"/>
              </a:buClr>
              <a:buSzPts val="3600"/>
              <a:buFont typeface="Calibri"/>
              <a:buChar char="•"/>
            </a:pPr>
            <a:r>
              <a:rPr lang="en-US" sz="3600" dirty="0">
                <a:solidFill>
                  <a:schemeClr val="dk1"/>
                </a:solidFill>
                <a:latin typeface="Calibri"/>
                <a:ea typeface="Calibri"/>
                <a:cs typeface="Calibri"/>
                <a:sym typeface="Calibri"/>
              </a:rPr>
              <a:t>Based on the identified needs, curated learning paths are recommended from trusted </a:t>
            </a:r>
            <a:r>
              <a:rPr lang="en-US" sz="3600" dirty="0" err="1">
                <a:solidFill>
                  <a:schemeClr val="dk1"/>
                </a:solidFill>
                <a:latin typeface="Calibri"/>
                <a:ea typeface="Calibri"/>
                <a:cs typeface="Calibri"/>
                <a:sym typeface="Calibri"/>
              </a:rPr>
              <a:t>sources.This</a:t>
            </a:r>
            <a:r>
              <a:rPr lang="en-US" sz="3600" dirty="0">
                <a:solidFill>
                  <a:schemeClr val="dk1"/>
                </a:solidFill>
                <a:latin typeface="Calibri"/>
                <a:ea typeface="Calibri"/>
                <a:cs typeface="Calibri"/>
                <a:sym typeface="Calibri"/>
              </a:rPr>
              <a:t> ensures users learn exactly what they need, from quality </a:t>
            </a:r>
            <a:endParaRPr sz="3600" dirty="0"/>
          </a:p>
          <a:p>
            <a:pPr marL="457200" marR="0" lvl="0" indent="-228600" algn="l" rtl="0">
              <a:spcBef>
                <a:spcPts val="0"/>
              </a:spcBef>
              <a:spcAft>
                <a:spcPts val="0"/>
              </a:spcAft>
              <a:buClr>
                <a:schemeClr val="dk1"/>
              </a:buClr>
              <a:buSzPts val="3600"/>
              <a:buFont typeface="Calibri"/>
              <a:buChar char="•"/>
            </a:pPr>
            <a:r>
              <a:rPr lang="en-US" sz="3600" dirty="0">
                <a:solidFill>
                  <a:schemeClr val="dk1"/>
                </a:solidFill>
                <a:latin typeface="Calibri"/>
                <a:ea typeface="Calibri"/>
                <a:cs typeface="Calibri"/>
                <a:sym typeface="Calibri"/>
              </a:rPr>
              <a:t>To keep learning engaging, lessons are gamified with XP, badges, and interactive content.</a:t>
            </a:r>
            <a:endParaRPr sz="3600" dirty="0"/>
          </a:p>
          <a:p>
            <a:pPr marL="457200" marR="0" lvl="0" indent="-228600" algn="l" rtl="0">
              <a:spcBef>
                <a:spcPts val="0"/>
              </a:spcBef>
              <a:spcAft>
                <a:spcPts val="0"/>
              </a:spcAft>
              <a:buClr>
                <a:schemeClr val="dk1"/>
              </a:buClr>
              <a:buSzPts val="3600"/>
              <a:buFont typeface="Calibri"/>
              <a:buChar char="•"/>
            </a:pPr>
            <a:r>
              <a:rPr lang="en-US" sz="3600" dirty="0" err="1">
                <a:solidFill>
                  <a:schemeClr val="dk1"/>
                </a:solidFill>
                <a:latin typeface="Calibri"/>
                <a:ea typeface="Calibri"/>
                <a:cs typeface="Calibri"/>
                <a:sym typeface="Calibri"/>
              </a:rPr>
              <a:t>Finally,Soft</a:t>
            </a:r>
            <a:r>
              <a:rPr lang="en-US" sz="3600" dirty="0">
                <a:solidFill>
                  <a:schemeClr val="dk1"/>
                </a:solidFill>
                <a:latin typeface="Calibri"/>
                <a:ea typeface="Calibri"/>
                <a:cs typeface="Calibri"/>
                <a:sym typeface="Calibri"/>
              </a:rPr>
              <a:t> skills are enhanced through AI-powered mock interviews.</a:t>
            </a:r>
            <a:br>
              <a:rPr lang="en-US" sz="3600" dirty="0">
                <a:solidFill>
                  <a:schemeClr val="dk1"/>
                </a:solidFill>
                <a:latin typeface="Calibri"/>
                <a:ea typeface="Calibri"/>
                <a:cs typeface="Calibri"/>
                <a:sym typeface="Calibri"/>
              </a:rPr>
            </a:br>
            <a:r>
              <a:rPr lang="en-US" sz="3600" dirty="0">
                <a:solidFill>
                  <a:schemeClr val="dk1"/>
                </a:solidFill>
                <a:latin typeface="Calibri"/>
                <a:ea typeface="Calibri"/>
                <a:cs typeface="Calibri"/>
                <a:sym typeface="Calibri"/>
              </a:rPr>
              <a:t>Users receive real-time feedback that builds confidence and communication abilities.</a:t>
            </a:r>
            <a:endParaRPr sz="3600" dirty="0"/>
          </a:p>
          <a:p>
            <a:pPr marL="457200" marR="0" lvl="0" indent="0" algn="l" rtl="0">
              <a:lnSpc>
                <a:spcPct val="153150"/>
              </a:lnSpc>
              <a:spcBef>
                <a:spcPts val="0"/>
              </a:spcBef>
              <a:spcAft>
                <a:spcPts val="0"/>
              </a:spcAft>
              <a:buNone/>
            </a:pPr>
            <a:endParaRPr sz="36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p:txBody>
      </p:sp>
      <p:sp>
        <p:nvSpPr>
          <p:cNvPr id="251" name="Google Shape;251;p27"/>
          <p:cNvSpPr/>
          <p:nvPr/>
        </p:nvSpPr>
        <p:spPr>
          <a:xfrm>
            <a:off x="12847126" y="6843304"/>
            <a:ext cx="9225147" cy="8229600"/>
          </a:xfrm>
          <a:custGeom>
            <a:avLst/>
            <a:gdLst/>
            <a:ahLst/>
            <a:cxnLst/>
            <a:rect l="l" t="t" r="r" b="b"/>
            <a:pathLst>
              <a:path w="9225147" h="8229600" extrusionOk="0">
                <a:moveTo>
                  <a:pt x="0" y="0"/>
                </a:moveTo>
                <a:lnTo>
                  <a:pt x="9225148" y="0"/>
                </a:lnTo>
                <a:lnTo>
                  <a:pt x="9225148" y="8229600"/>
                </a:lnTo>
                <a:lnTo>
                  <a:pt x="0" y="822960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8"/>
          <p:cNvSpPr/>
          <p:nvPr/>
        </p:nvSpPr>
        <p:spPr>
          <a:xfrm>
            <a:off x="-1347061" y="7725054"/>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7" name="Google Shape;257;p28"/>
          <p:cNvSpPr txBox="1"/>
          <p:nvPr/>
        </p:nvSpPr>
        <p:spPr>
          <a:xfrm>
            <a:off x="777577" y="503604"/>
            <a:ext cx="12176423" cy="709361"/>
          </a:xfrm>
          <a:prstGeom prst="rect">
            <a:avLst/>
          </a:prstGeom>
          <a:noFill/>
          <a:ln>
            <a:noFill/>
          </a:ln>
        </p:spPr>
        <p:txBody>
          <a:bodyPr spcFirstLastPara="1" wrap="square" lIns="0" tIns="0" rIns="0" bIns="0" anchor="t" anchorCtr="0">
            <a:spAutoFit/>
          </a:bodyPr>
          <a:lstStyle/>
          <a:p>
            <a:pPr marL="0" marR="0" lvl="0" indent="0" algn="l" rtl="0">
              <a:lnSpc>
                <a:spcPct val="153150"/>
              </a:lnSpc>
              <a:spcBef>
                <a:spcPts val="0"/>
              </a:spcBef>
              <a:spcAft>
                <a:spcPts val="0"/>
              </a:spcAft>
              <a:buNone/>
            </a:pPr>
            <a:r>
              <a:rPr lang="en-US" sz="4000" b="1">
                <a:solidFill>
                  <a:srgbClr val="5271FF"/>
                </a:solidFill>
                <a:latin typeface="Raleway Black"/>
                <a:ea typeface="Raleway Black"/>
                <a:cs typeface="Raleway Black"/>
                <a:sym typeface="Raleway Black"/>
              </a:rPr>
              <a:t>Console Output Details</a:t>
            </a:r>
            <a:endParaRPr/>
          </a:p>
        </p:txBody>
      </p:sp>
      <p:sp>
        <p:nvSpPr>
          <p:cNvPr id="258" name="Google Shape;258;p28"/>
          <p:cNvSpPr/>
          <p:nvPr/>
        </p:nvSpPr>
        <p:spPr>
          <a:xfrm>
            <a:off x="13675426" y="7725054"/>
            <a:ext cx="9225147" cy="8229600"/>
          </a:xfrm>
          <a:custGeom>
            <a:avLst/>
            <a:gdLst/>
            <a:ahLst/>
            <a:cxnLst/>
            <a:rect l="l" t="t" r="r" b="b"/>
            <a:pathLst>
              <a:path w="9225147" h="8229600" extrusionOk="0">
                <a:moveTo>
                  <a:pt x="0" y="0"/>
                </a:moveTo>
                <a:lnTo>
                  <a:pt x="9225148" y="0"/>
                </a:lnTo>
                <a:lnTo>
                  <a:pt x="9225148" y="8229600"/>
                </a:lnTo>
                <a:lnTo>
                  <a:pt x="0" y="822960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259;p28"/>
          <p:cNvSpPr txBox="1"/>
          <p:nvPr/>
        </p:nvSpPr>
        <p:spPr>
          <a:xfrm>
            <a:off x="283029" y="1224892"/>
            <a:ext cx="16256271" cy="1872780"/>
          </a:xfrm>
          <a:prstGeom prst="rect">
            <a:avLst/>
          </a:prstGeom>
          <a:noFill/>
          <a:ln>
            <a:noFill/>
          </a:ln>
        </p:spPr>
        <p:txBody>
          <a:bodyPr spcFirstLastPara="1" wrap="square" lIns="91425" tIns="45700" rIns="91425" bIns="45700" anchor="t" anchorCtr="0">
            <a:spAutoFit/>
          </a:bodyPr>
          <a:lstStyle/>
          <a:p>
            <a:pPr marL="457200" marR="0" lvl="0" indent="-469900" algn="l" rtl="0">
              <a:lnSpc>
                <a:spcPct val="115000"/>
              </a:lnSpc>
              <a:spcBef>
                <a:spcPts val="0"/>
              </a:spcBef>
              <a:spcAft>
                <a:spcPts val="0"/>
              </a:spcAft>
              <a:buClr>
                <a:schemeClr val="dk1"/>
              </a:buClr>
              <a:buSzPts val="3800"/>
              <a:buFont typeface="Calibri"/>
              <a:buChar char="●"/>
            </a:pPr>
            <a:r>
              <a:rPr lang="en-US" sz="3800" b="1" dirty="0">
                <a:solidFill>
                  <a:schemeClr val="dk1"/>
                </a:solidFill>
                <a:latin typeface="Calibri"/>
                <a:ea typeface="Calibri"/>
                <a:cs typeface="Calibri"/>
                <a:sym typeface="Calibri"/>
              </a:rPr>
              <a:t>GitHub Repo: </a:t>
            </a:r>
            <a:r>
              <a:rPr lang="en-IN" sz="3600" u="sng" dirty="0">
                <a:latin typeface="Calibiri body"/>
                <a:hlinkClick r:id="rId5"/>
              </a:rPr>
              <a:t>https://github.com/Anharous/HexaWareHackathon.git</a:t>
            </a:r>
            <a:endParaRPr lang="en-IN" sz="3600" dirty="0">
              <a:latin typeface="Calibiri body"/>
            </a:endParaRPr>
          </a:p>
          <a:p>
            <a:br>
              <a:rPr lang="en-IN" sz="3600" dirty="0">
                <a:latin typeface="Calibiri body"/>
              </a:rPr>
            </a:br>
            <a:endParaRPr sz="3600" dirty="0">
              <a:solidFill>
                <a:schemeClr val="dk1"/>
              </a:solidFill>
              <a:latin typeface="Calibiri body"/>
              <a:ea typeface="Calibri"/>
              <a:cs typeface="Calibri"/>
              <a:sym typeface="Calibri"/>
            </a:endParaRPr>
          </a:p>
        </p:txBody>
      </p:sp>
      <p:pic>
        <p:nvPicPr>
          <p:cNvPr id="3" name="Picture 2">
            <a:extLst>
              <a:ext uri="{FF2B5EF4-FFF2-40B4-BE49-F238E27FC236}">
                <a16:creationId xmlns:a16="http://schemas.microsoft.com/office/drawing/2014/main" id="{BC996B6E-5F37-C7C9-225F-0AE41498654C}"/>
              </a:ext>
            </a:extLst>
          </p:cNvPr>
          <p:cNvPicPr>
            <a:picLocks noChangeAspect="1"/>
          </p:cNvPicPr>
          <p:nvPr/>
        </p:nvPicPr>
        <p:blipFill>
          <a:blip r:embed="rId6"/>
          <a:stretch>
            <a:fillRect/>
          </a:stretch>
        </p:blipFill>
        <p:spPr>
          <a:xfrm>
            <a:off x="777576" y="2161282"/>
            <a:ext cx="7213435" cy="3488372"/>
          </a:xfrm>
          <a:prstGeom prst="rect">
            <a:avLst/>
          </a:prstGeom>
        </p:spPr>
      </p:pic>
      <p:pic>
        <p:nvPicPr>
          <p:cNvPr id="5" name="Picture 4">
            <a:extLst>
              <a:ext uri="{FF2B5EF4-FFF2-40B4-BE49-F238E27FC236}">
                <a16:creationId xmlns:a16="http://schemas.microsoft.com/office/drawing/2014/main" id="{52E42044-5951-35EA-6970-E8BEED1CD0BB}"/>
              </a:ext>
            </a:extLst>
          </p:cNvPr>
          <p:cNvPicPr>
            <a:picLocks noChangeAspect="1"/>
          </p:cNvPicPr>
          <p:nvPr/>
        </p:nvPicPr>
        <p:blipFill>
          <a:blip r:embed="rId7"/>
          <a:stretch>
            <a:fillRect/>
          </a:stretch>
        </p:blipFill>
        <p:spPr>
          <a:xfrm>
            <a:off x="8833059" y="6358228"/>
            <a:ext cx="7120208" cy="3448850"/>
          </a:xfrm>
          <a:prstGeom prst="rect">
            <a:avLst/>
          </a:prstGeom>
        </p:spPr>
      </p:pic>
      <p:pic>
        <p:nvPicPr>
          <p:cNvPr id="7" name="Picture 6">
            <a:extLst>
              <a:ext uri="{FF2B5EF4-FFF2-40B4-BE49-F238E27FC236}">
                <a16:creationId xmlns:a16="http://schemas.microsoft.com/office/drawing/2014/main" id="{CBAC2272-6EEB-5137-BA32-3770AA3432DA}"/>
              </a:ext>
            </a:extLst>
          </p:cNvPr>
          <p:cNvPicPr>
            <a:picLocks noChangeAspect="1"/>
          </p:cNvPicPr>
          <p:nvPr/>
        </p:nvPicPr>
        <p:blipFill>
          <a:blip r:embed="rId8"/>
          <a:stretch>
            <a:fillRect/>
          </a:stretch>
        </p:blipFill>
        <p:spPr>
          <a:xfrm>
            <a:off x="8833059" y="2204347"/>
            <a:ext cx="7213435" cy="3443288"/>
          </a:xfrm>
          <a:prstGeom prst="rect">
            <a:avLst/>
          </a:prstGeom>
        </p:spPr>
      </p:pic>
      <p:pic>
        <p:nvPicPr>
          <p:cNvPr id="4" name="Picture 3">
            <a:extLst>
              <a:ext uri="{FF2B5EF4-FFF2-40B4-BE49-F238E27FC236}">
                <a16:creationId xmlns:a16="http://schemas.microsoft.com/office/drawing/2014/main" id="{C8C4CEED-BE05-E749-2E70-C56A65431948}"/>
              </a:ext>
            </a:extLst>
          </p:cNvPr>
          <p:cNvPicPr>
            <a:picLocks noChangeAspect="1"/>
          </p:cNvPicPr>
          <p:nvPr/>
        </p:nvPicPr>
        <p:blipFill>
          <a:blip r:embed="rId9"/>
          <a:stretch>
            <a:fillRect/>
          </a:stretch>
        </p:blipFill>
        <p:spPr>
          <a:xfrm>
            <a:off x="777577" y="6340108"/>
            <a:ext cx="7143288" cy="34432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49;p27">
            <a:extLst>
              <a:ext uri="{FF2B5EF4-FFF2-40B4-BE49-F238E27FC236}">
                <a16:creationId xmlns:a16="http://schemas.microsoft.com/office/drawing/2014/main" id="{91D2B3E2-6C48-4804-4B15-5F5FB669D0D4}"/>
              </a:ext>
            </a:extLst>
          </p:cNvPr>
          <p:cNvSpPr/>
          <p:nvPr/>
        </p:nvSpPr>
        <p:spPr>
          <a:xfrm>
            <a:off x="-1347061" y="7725054"/>
            <a:ext cx="3486600" cy="3719040"/>
          </a:xfrm>
          <a:custGeom>
            <a:avLst/>
            <a:gdLst/>
            <a:ahLst/>
            <a:cxnLst/>
            <a:rect l="l" t="t" r="r" b="b"/>
            <a:pathLst>
              <a:path w="3486600" h="3719040" extrusionOk="0">
                <a:moveTo>
                  <a:pt x="0" y="0"/>
                </a:moveTo>
                <a:lnTo>
                  <a:pt x="3486600" y="0"/>
                </a:lnTo>
                <a:lnTo>
                  <a:pt x="3486600" y="3719040"/>
                </a:lnTo>
                <a:lnTo>
                  <a:pt x="0" y="3719040"/>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 name="Google Shape;250;p27">
            <a:extLst>
              <a:ext uri="{FF2B5EF4-FFF2-40B4-BE49-F238E27FC236}">
                <a16:creationId xmlns:a16="http://schemas.microsoft.com/office/drawing/2014/main" id="{992E09D7-2EEE-B4AA-1073-E1692EB67238}"/>
              </a:ext>
            </a:extLst>
          </p:cNvPr>
          <p:cNvSpPr txBox="1"/>
          <p:nvPr/>
        </p:nvSpPr>
        <p:spPr>
          <a:xfrm>
            <a:off x="761999" y="561100"/>
            <a:ext cx="16536351" cy="8997528"/>
          </a:xfrm>
          <a:prstGeom prst="rect">
            <a:avLst/>
          </a:prstGeom>
          <a:noFill/>
          <a:ln>
            <a:noFill/>
          </a:ln>
        </p:spPr>
        <p:txBody>
          <a:bodyPr spcFirstLastPara="1" wrap="square" lIns="0" tIns="0" rIns="0" bIns="0" anchor="t" anchorCtr="0">
            <a:spAutoFit/>
          </a:bodyPr>
          <a:lstStyle/>
          <a:p>
            <a:pPr marL="457200" marR="0" lvl="0" indent="0" algn="l" rtl="0">
              <a:lnSpc>
                <a:spcPct val="153150"/>
              </a:lnSpc>
              <a:spcBef>
                <a:spcPts val="0"/>
              </a:spcBef>
              <a:spcAft>
                <a:spcPts val="0"/>
              </a:spcAft>
              <a:buNone/>
            </a:pPr>
            <a:endParaRPr sz="36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a:p>
            <a:pPr marL="0" marR="0" lvl="0" indent="0" algn="l" rtl="0">
              <a:lnSpc>
                <a:spcPct val="153150"/>
              </a:lnSpc>
              <a:spcBef>
                <a:spcPts val="0"/>
              </a:spcBef>
              <a:spcAft>
                <a:spcPts val="0"/>
              </a:spcAft>
              <a:buNone/>
            </a:pPr>
            <a:endParaRPr sz="4000" b="1" dirty="0">
              <a:solidFill>
                <a:srgbClr val="5271FF"/>
              </a:solidFill>
              <a:latin typeface="Raleway Black"/>
              <a:ea typeface="Raleway Black"/>
              <a:cs typeface="Raleway Black"/>
              <a:sym typeface="Raleway Black"/>
            </a:endParaRPr>
          </a:p>
        </p:txBody>
      </p:sp>
      <p:sp>
        <p:nvSpPr>
          <p:cNvPr id="7" name="Google Shape;251;p27">
            <a:extLst>
              <a:ext uri="{FF2B5EF4-FFF2-40B4-BE49-F238E27FC236}">
                <a16:creationId xmlns:a16="http://schemas.microsoft.com/office/drawing/2014/main" id="{6B76AB8B-DB46-42A7-1298-6C6B7EFFF804}"/>
              </a:ext>
            </a:extLst>
          </p:cNvPr>
          <p:cNvSpPr/>
          <p:nvPr/>
        </p:nvSpPr>
        <p:spPr>
          <a:xfrm>
            <a:off x="12847126" y="6843304"/>
            <a:ext cx="9225147" cy="8229600"/>
          </a:xfrm>
          <a:custGeom>
            <a:avLst/>
            <a:gdLst/>
            <a:ahLst/>
            <a:cxnLst/>
            <a:rect l="l" t="t" r="r" b="b"/>
            <a:pathLst>
              <a:path w="9225147" h="8229600" extrusionOk="0">
                <a:moveTo>
                  <a:pt x="0" y="0"/>
                </a:moveTo>
                <a:lnTo>
                  <a:pt x="9225148" y="0"/>
                </a:lnTo>
                <a:lnTo>
                  <a:pt x="9225148"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 name="Picture 7">
            <a:extLst>
              <a:ext uri="{FF2B5EF4-FFF2-40B4-BE49-F238E27FC236}">
                <a16:creationId xmlns:a16="http://schemas.microsoft.com/office/drawing/2014/main" id="{ADB70601-9FC1-A9C7-41DC-814D2DF96390}"/>
              </a:ext>
            </a:extLst>
          </p:cNvPr>
          <p:cNvPicPr>
            <a:picLocks noChangeAspect="1"/>
          </p:cNvPicPr>
          <p:nvPr/>
        </p:nvPicPr>
        <p:blipFill>
          <a:blip r:embed="rId4"/>
          <a:stretch>
            <a:fillRect/>
          </a:stretch>
        </p:blipFill>
        <p:spPr>
          <a:xfrm>
            <a:off x="9144000" y="576469"/>
            <a:ext cx="7587892" cy="3669457"/>
          </a:xfrm>
          <a:prstGeom prst="rect">
            <a:avLst/>
          </a:prstGeom>
        </p:spPr>
      </p:pic>
      <p:pic>
        <p:nvPicPr>
          <p:cNvPr id="10" name="Picture 9">
            <a:extLst>
              <a:ext uri="{FF2B5EF4-FFF2-40B4-BE49-F238E27FC236}">
                <a16:creationId xmlns:a16="http://schemas.microsoft.com/office/drawing/2014/main" id="{EF4DB6A1-32C5-46BF-C3FC-A05C6A7F1D39}"/>
              </a:ext>
            </a:extLst>
          </p:cNvPr>
          <p:cNvPicPr>
            <a:picLocks noChangeAspect="1"/>
          </p:cNvPicPr>
          <p:nvPr/>
        </p:nvPicPr>
        <p:blipFill>
          <a:blip r:embed="rId5"/>
          <a:stretch>
            <a:fillRect/>
          </a:stretch>
        </p:blipFill>
        <p:spPr>
          <a:xfrm>
            <a:off x="1159054" y="5315041"/>
            <a:ext cx="7587892" cy="3681313"/>
          </a:xfrm>
          <a:prstGeom prst="rect">
            <a:avLst/>
          </a:prstGeom>
        </p:spPr>
      </p:pic>
      <p:pic>
        <p:nvPicPr>
          <p:cNvPr id="12" name="Picture 11">
            <a:extLst>
              <a:ext uri="{FF2B5EF4-FFF2-40B4-BE49-F238E27FC236}">
                <a16:creationId xmlns:a16="http://schemas.microsoft.com/office/drawing/2014/main" id="{78DD3620-1334-09ED-EDD2-A4CAA16EEE21}"/>
              </a:ext>
            </a:extLst>
          </p:cNvPr>
          <p:cNvPicPr>
            <a:picLocks noChangeAspect="1"/>
          </p:cNvPicPr>
          <p:nvPr/>
        </p:nvPicPr>
        <p:blipFill>
          <a:blip r:embed="rId6"/>
          <a:stretch>
            <a:fillRect/>
          </a:stretch>
        </p:blipFill>
        <p:spPr>
          <a:xfrm>
            <a:off x="9144000" y="5318005"/>
            <a:ext cx="7587892" cy="3675386"/>
          </a:xfrm>
          <a:prstGeom prst="rect">
            <a:avLst/>
          </a:prstGeom>
        </p:spPr>
      </p:pic>
      <p:pic>
        <p:nvPicPr>
          <p:cNvPr id="14" name="Picture 13">
            <a:extLst>
              <a:ext uri="{FF2B5EF4-FFF2-40B4-BE49-F238E27FC236}">
                <a16:creationId xmlns:a16="http://schemas.microsoft.com/office/drawing/2014/main" id="{8486F06D-FBDA-2FD7-F336-FE696EEE22D7}"/>
              </a:ext>
            </a:extLst>
          </p:cNvPr>
          <p:cNvPicPr>
            <a:picLocks noChangeAspect="1"/>
          </p:cNvPicPr>
          <p:nvPr/>
        </p:nvPicPr>
        <p:blipFill>
          <a:blip r:embed="rId7"/>
          <a:stretch>
            <a:fillRect/>
          </a:stretch>
        </p:blipFill>
        <p:spPr>
          <a:xfrm>
            <a:off x="1121918" y="576468"/>
            <a:ext cx="7662164" cy="3669458"/>
          </a:xfrm>
          <a:prstGeom prst="rect">
            <a:avLst/>
          </a:prstGeom>
        </p:spPr>
      </p:pic>
    </p:spTree>
    <p:extLst>
      <p:ext uri="{BB962C8B-B14F-4D97-AF65-F5344CB8AC3E}">
        <p14:creationId xmlns:p14="http://schemas.microsoft.com/office/powerpoint/2010/main" val="725479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271"/>
        <p:cNvGrpSpPr/>
        <p:nvPr/>
      </p:nvGrpSpPr>
      <p:grpSpPr>
        <a:xfrm>
          <a:off x="0" y="0"/>
          <a:ext cx="0" cy="0"/>
          <a:chOff x="0" y="0"/>
          <a:chExt cx="0" cy="0"/>
        </a:xfrm>
      </p:grpSpPr>
      <p:sp>
        <p:nvSpPr>
          <p:cNvPr id="272" name="Google Shape;272;p30"/>
          <p:cNvSpPr/>
          <p:nvPr/>
        </p:nvSpPr>
        <p:spPr>
          <a:xfrm>
            <a:off x="1906777" y="-391566"/>
            <a:ext cx="9225147" cy="8229600"/>
          </a:xfrm>
          <a:custGeom>
            <a:avLst/>
            <a:gdLst/>
            <a:ahLst/>
            <a:cxnLst/>
            <a:rect l="l" t="t" r="r" b="b"/>
            <a:pathLst>
              <a:path w="9225147" h="8229600" extrusionOk="0">
                <a:moveTo>
                  <a:pt x="0" y="0"/>
                </a:moveTo>
                <a:lnTo>
                  <a:pt x="9225147" y="0"/>
                </a:lnTo>
                <a:lnTo>
                  <a:pt x="9225147"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3" name="Google Shape;273;p30"/>
          <p:cNvSpPr/>
          <p:nvPr/>
        </p:nvSpPr>
        <p:spPr>
          <a:xfrm>
            <a:off x="13675426" y="7750722"/>
            <a:ext cx="9225147" cy="8229600"/>
          </a:xfrm>
          <a:custGeom>
            <a:avLst/>
            <a:gdLst/>
            <a:ahLst/>
            <a:cxnLst/>
            <a:rect l="l" t="t" r="r" b="b"/>
            <a:pathLst>
              <a:path w="9225147" h="8229600" extrusionOk="0">
                <a:moveTo>
                  <a:pt x="0" y="0"/>
                </a:moveTo>
                <a:lnTo>
                  <a:pt x="9225148" y="0"/>
                </a:lnTo>
                <a:lnTo>
                  <a:pt x="9225148" y="8229600"/>
                </a:lnTo>
                <a:lnTo>
                  <a:pt x="0" y="822960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274" name="Google Shape;274;p30"/>
          <p:cNvGrpSpPr/>
          <p:nvPr/>
        </p:nvGrpSpPr>
        <p:grpSpPr>
          <a:xfrm>
            <a:off x="0" y="-20171"/>
            <a:ext cx="5102386" cy="10467217"/>
            <a:chOff x="0" y="0"/>
            <a:chExt cx="1343838" cy="2756798"/>
          </a:xfrm>
        </p:grpSpPr>
        <p:sp>
          <p:nvSpPr>
            <p:cNvPr id="275" name="Google Shape;275;p30"/>
            <p:cNvSpPr/>
            <p:nvPr/>
          </p:nvSpPr>
          <p:spPr>
            <a:xfrm>
              <a:off x="0" y="0"/>
              <a:ext cx="1343838" cy="2756798"/>
            </a:xfrm>
            <a:custGeom>
              <a:avLst/>
              <a:gdLst/>
              <a:ahLst/>
              <a:cxnLst/>
              <a:rect l="l" t="t" r="r" b="b"/>
              <a:pathLst>
                <a:path w="1343838" h="2756798" extrusionOk="0">
                  <a:moveTo>
                    <a:pt x="0" y="0"/>
                  </a:moveTo>
                  <a:lnTo>
                    <a:pt x="1343838" y="0"/>
                  </a:lnTo>
                  <a:lnTo>
                    <a:pt x="1343838" y="2756798"/>
                  </a:lnTo>
                  <a:lnTo>
                    <a:pt x="0" y="2756798"/>
                  </a:lnTo>
                  <a:close/>
                </a:path>
              </a:pathLst>
            </a:custGeom>
            <a:gradFill>
              <a:gsLst>
                <a:gs pos="0">
                  <a:srgbClr val="1933A8"/>
                </a:gs>
                <a:gs pos="100000">
                  <a:srgbClr val="5271FF"/>
                </a:gs>
              </a:gsLst>
              <a:lin ang="27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30"/>
            <p:cNvSpPr txBox="1"/>
            <p:nvPr/>
          </p:nvSpPr>
          <p:spPr>
            <a:xfrm>
              <a:off x="0" y="9525"/>
              <a:ext cx="1343838" cy="2747273"/>
            </a:xfrm>
            <a:prstGeom prst="rect">
              <a:avLst/>
            </a:prstGeom>
            <a:noFill/>
            <a:ln>
              <a:noFill/>
            </a:ln>
          </p:spPr>
          <p:txBody>
            <a:bodyPr spcFirstLastPara="1" wrap="square" lIns="50800" tIns="50800" rIns="50800" bIns="50800" anchor="ctr" anchorCtr="0">
              <a:noAutofit/>
            </a:bodyPr>
            <a:lstStyle/>
            <a:p>
              <a:pPr marL="0" marR="0" lvl="0" indent="0" algn="ctr" rtl="0">
                <a:lnSpc>
                  <a:spcPct val="84500"/>
                </a:lnSpc>
                <a:spcBef>
                  <a:spcPts val="0"/>
                </a:spcBef>
                <a:spcAft>
                  <a:spcPts val="0"/>
                </a:spcAft>
                <a:buNone/>
              </a:pPr>
              <a:endParaRPr sz="1800">
                <a:solidFill>
                  <a:schemeClr val="dk1"/>
                </a:solidFill>
                <a:latin typeface="Calibri"/>
                <a:ea typeface="Calibri"/>
                <a:cs typeface="Calibri"/>
                <a:sym typeface="Calibri"/>
              </a:endParaRPr>
            </a:p>
          </p:txBody>
        </p:sp>
      </p:grpSp>
      <p:sp>
        <p:nvSpPr>
          <p:cNvPr id="277" name="Google Shape;277;p30"/>
          <p:cNvSpPr/>
          <p:nvPr/>
        </p:nvSpPr>
        <p:spPr>
          <a:xfrm>
            <a:off x="1028700" y="1808064"/>
            <a:ext cx="8255582" cy="7450236"/>
          </a:xfrm>
          <a:custGeom>
            <a:avLst/>
            <a:gdLst/>
            <a:ahLst/>
            <a:cxnLst/>
            <a:rect l="l" t="t" r="r" b="b"/>
            <a:pathLst>
              <a:path w="1279006" h="1154236" extrusionOk="0">
                <a:moveTo>
                  <a:pt x="93778" y="0"/>
                </a:moveTo>
                <a:lnTo>
                  <a:pt x="1185228" y="0"/>
                </a:lnTo>
                <a:cubicBezTo>
                  <a:pt x="1237020" y="0"/>
                  <a:pt x="1279006" y="41986"/>
                  <a:pt x="1279006" y="93778"/>
                </a:cubicBezTo>
                <a:lnTo>
                  <a:pt x="1279006" y="1060458"/>
                </a:lnTo>
                <a:cubicBezTo>
                  <a:pt x="1279006" y="1085330"/>
                  <a:pt x="1269126" y="1109183"/>
                  <a:pt x="1251539" y="1126769"/>
                </a:cubicBezTo>
                <a:cubicBezTo>
                  <a:pt x="1233952" y="1144356"/>
                  <a:pt x="1210099" y="1154236"/>
                  <a:pt x="1185228" y="1154236"/>
                </a:cubicBezTo>
                <a:lnTo>
                  <a:pt x="93778" y="1154236"/>
                </a:lnTo>
                <a:cubicBezTo>
                  <a:pt x="68907" y="1154236"/>
                  <a:pt x="45054" y="1144356"/>
                  <a:pt x="27467" y="1126769"/>
                </a:cubicBezTo>
                <a:cubicBezTo>
                  <a:pt x="9880" y="1109183"/>
                  <a:pt x="0" y="1085330"/>
                  <a:pt x="0" y="1060458"/>
                </a:cubicBezTo>
                <a:lnTo>
                  <a:pt x="0" y="93778"/>
                </a:lnTo>
                <a:cubicBezTo>
                  <a:pt x="0" y="68907"/>
                  <a:pt x="9880" y="45054"/>
                  <a:pt x="27467" y="27467"/>
                </a:cubicBezTo>
                <a:cubicBezTo>
                  <a:pt x="45054" y="9880"/>
                  <a:pt x="68907" y="0"/>
                  <a:pt x="93778" y="0"/>
                </a:cubicBezTo>
                <a:close/>
              </a:path>
            </a:pathLst>
          </a:custGeom>
          <a:blipFill rotWithShape="1">
            <a:blip r:embed="rId4">
              <a:alphaModFix/>
            </a:blip>
            <a:stretch>
              <a:fillRect l="-30215" r="-3021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30"/>
          <p:cNvSpPr txBox="1"/>
          <p:nvPr/>
        </p:nvSpPr>
        <p:spPr>
          <a:xfrm>
            <a:off x="10066285" y="4476651"/>
            <a:ext cx="8255700" cy="1385400"/>
          </a:xfrm>
          <a:prstGeom prst="rect">
            <a:avLst/>
          </a:prstGeom>
          <a:noFill/>
          <a:ln>
            <a:noFill/>
          </a:ln>
        </p:spPr>
        <p:txBody>
          <a:bodyPr spcFirstLastPara="1" wrap="square" lIns="0" tIns="0" rIns="0" bIns="0" anchor="t" anchorCtr="0">
            <a:spAutoFit/>
          </a:bodyPr>
          <a:lstStyle/>
          <a:p>
            <a:pPr marL="0" marR="0" lvl="0" indent="0" algn="l" rtl="0">
              <a:lnSpc>
                <a:spcPct val="104999"/>
              </a:lnSpc>
              <a:spcBef>
                <a:spcPts val="0"/>
              </a:spcBef>
              <a:spcAft>
                <a:spcPts val="0"/>
              </a:spcAft>
              <a:buNone/>
            </a:pPr>
            <a:r>
              <a:rPr lang="en-US" sz="9000" b="1">
                <a:solidFill>
                  <a:srgbClr val="5271FF"/>
                </a:solidFill>
                <a:latin typeface="Raleway Black"/>
                <a:ea typeface="Raleway Black"/>
                <a:cs typeface="Raleway Black"/>
                <a:sym typeface="Raleway Black"/>
              </a:rPr>
              <a:t>THANK YOU</a:t>
            </a:r>
            <a:endParaRPr sz="90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331</TotalTime>
  <Words>1028</Words>
  <Application>Microsoft Office PowerPoint</Application>
  <PresentationFormat>Custom</PresentationFormat>
  <Paragraphs>167</Paragraphs>
  <Slides>18</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Poppins</vt:lpstr>
      <vt:lpstr>Calibiri body</vt:lpstr>
      <vt:lpstr>Calibri</vt:lpstr>
      <vt:lpstr>Libre Baskerville</vt:lpstr>
      <vt:lpstr>Arial</vt:lpstr>
      <vt:lpstr>Times New Roman</vt:lpstr>
      <vt:lpstr>Raleway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Kishore swetha</dc:creator>
  <cp:lastModifiedBy>Kishore Swetha</cp:lastModifiedBy>
  <cp:revision>7</cp:revision>
  <dcterms:modified xsi:type="dcterms:W3CDTF">2025-08-09T05:34:35Z</dcterms:modified>
</cp:coreProperties>
</file>